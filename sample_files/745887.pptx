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61" r:id="rId3"/>
    <p:sldId id="283" r:id="rId4"/>
    <p:sldId id="298" r:id="rId5"/>
    <p:sldId id="280" r:id="rId6"/>
    <p:sldId id="300" r:id="rId7"/>
    <p:sldId id="266" r:id="rId8"/>
    <p:sldId id="285" r:id="rId9"/>
    <p:sldId id="308" r:id="rId10"/>
    <p:sldId id="286" r:id="rId11"/>
    <p:sldId id="301" r:id="rId12"/>
    <p:sldId id="302" r:id="rId13"/>
    <p:sldId id="303" r:id="rId14"/>
    <p:sldId id="304" r:id="rId15"/>
    <p:sldId id="278" r:id="rId16"/>
    <p:sldId id="307" r:id="rId17"/>
    <p:sldId id="288" r:id="rId18"/>
    <p:sldId id="289" r:id="rId19"/>
    <p:sldId id="292" r:id="rId20"/>
    <p:sldId id="294" r:id="rId21"/>
    <p:sldId id="279" r:id="rId22"/>
    <p:sldId id="299" r:id="rId23"/>
    <p:sldId id="305" r:id="rId24"/>
    <p:sldId id="295" r:id="rId25"/>
    <p:sldId id="263" r:id="rId26"/>
    <p:sldId id="309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  <p:clrMru>
    <a:srgbClr val="87B3F3"/>
    <a:srgbClr val="D1759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956" y="-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52" y="2000240"/>
            <a:ext cx="6557954" cy="428625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24" y="500042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914400" y="990600"/>
            <a:ext cx="7772400" cy="1470025"/>
          </a:xfrm>
          <a:prstGeom prst="roundRect">
            <a:avLst/>
          </a:prstGeom>
        </p:spPr>
        <p:txBody>
          <a:bodyPr/>
          <a:lstStyle>
            <a:lvl1pPr>
              <a:defRPr>
                <a:effectLst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800" y="1143000"/>
            <a:ext cx="7772400" cy="1470025"/>
          </a:xfrm>
          <a:prstGeom prst="roundRect">
            <a:avLst/>
          </a:prstGeom>
        </p:spPr>
        <p:txBody>
          <a:bodyPr/>
          <a:lstStyle>
            <a:lvl1pPr>
              <a:defRPr>
                <a:effectLst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ru-RU" sz="4400" b="1" smtClean="0">
                <a:ln w="18000">
                  <a:solidFill>
                    <a:srgbClr val="0070C0"/>
                  </a:solidFill>
                  <a:prstDash val="solid"/>
                  <a:miter lim="800000"/>
                </a:ln>
                <a:solidFill>
                  <a:srgbClr val="0070C0"/>
                </a:solidFill>
                <a:latin typeface="+mj-lt"/>
                <a:ea typeface="+mj-ea"/>
                <a:cs typeface="+mj-cs"/>
              </a:rPr>
              <a:t>Образец заголовка</a:t>
            </a:r>
            <a:endParaRPr lang="en-US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57224" y="2500306"/>
            <a:ext cx="7772400" cy="1470025"/>
          </a:xfrm>
          <a:prstGeom prst="roundRect">
            <a:avLst/>
          </a:prstGeom>
        </p:spPr>
        <p:txBody>
          <a:bodyPr/>
          <a:lstStyle>
            <a:lvl1pPr>
              <a:defRPr>
                <a:effectLst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ru-RU" sz="4400" b="1" smtClean="0">
                <a:ln w="18000">
                  <a:solidFill>
                    <a:srgbClr val="0070C0"/>
                  </a:solidFill>
                  <a:prstDash val="solid"/>
                  <a:miter lim="800000"/>
                </a:ln>
                <a:solidFill>
                  <a:srgbClr val="0070C0"/>
                </a:solidFill>
                <a:latin typeface="+mj-lt"/>
                <a:ea typeface="+mj-ea"/>
                <a:cs typeface="+mj-cs"/>
              </a:rPr>
              <a:t>Образец заголовка</a:t>
            </a:r>
            <a:endParaRPr lang="en-US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625" y="428625"/>
            <a:ext cx="8286750" cy="6072188"/>
          </a:xfrm>
          <a:prstGeom prst="roundRect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pic>
        <p:nvPicPr>
          <p:cNvPr id="1031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13663" y="3714750"/>
            <a:ext cx="1430337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ln w="18000">
            <a:solidFill>
              <a:srgbClr val="0070C0"/>
            </a:solidFill>
            <a:prstDash val="solid"/>
            <a:miter lim="800000"/>
          </a:ln>
          <a:solidFill>
            <a:srgbClr val="0070C0"/>
          </a:solidFill>
          <a:effectLst>
            <a:outerShdw blurRad="25500" dist="23000" dir="7020000" algn="tl">
              <a:srgbClr val="000000">
                <a:alpha val="50000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0070C0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roweb.ru/inews/chronicle/fon2.jpg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4.jpeg"/><Relationship Id="rId5" Type="http://schemas.openxmlformats.org/officeDocument/2006/relationships/hyperlink" Target="http://www.char.ru/books/p576530.jpg" TargetMode="Externa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дзаголовок 2"/>
          <p:cNvSpPr txBox="1">
            <a:spLocks/>
          </p:cNvSpPr>
          <p:nvPr/>
        </p:nvSpPr>
        <p:spPr>
          <a:xfrm>
            <a:off x="1552427" y="1550442"/>
            <a:ext cx="6072229" cy="1643074"/>
          </a:xfrm>
          <a:prstGeom prst="rect">
            <a:avLst/>
          </a:prstGeom>
        </p:spPr>
        <p:txBody>
          <a:bodyPr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6600" b="1" dirty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latin typeface="+mn-lt"/>
                <a:cs typeface="+mn-cs"/>
              </a:rPr>
              <a:t>Урок русского языка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6600" b="1" dirty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latin typeface="+mn-lt"/>
                <a:cs typeface="+mn-cs"/>
              </a:rPr>
              <a:t>в 1 классе</a:t>
            </a:r>
          </a:p>
        </p:txBody>
      </p:sp>
      <p:pic>
        <p:nvPicPr>
          <p:cNvPr id="3074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71550" y="692150"/>
            <a:ext cx="1306513" cy="135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9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72225" y="4221163"/>
            <a:ext cx="1462088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1188" y="2636838"/>
            <a:ext cx="1223962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64388" y="2636838"/>
            <a:ext cx="1317625" cy="9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4213" y="4652963"/>
            <a:ext cx="1584325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6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48488" y="692150"/>
            <a:ext cx="962025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7600" y="4941888"/>
            <a:ext cx="1441450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1000100" y="928670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Отгадай загадку!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1700808"/>
            <a:ext cx="8676456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lt"/>
                <a:cs typeface="+mn-cs"/>
              </a:rPr>
              <a:t>Буквы-значки, как бойцы на парад,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lt"/>
                <a:cs typeface="+mn-cs"/>
              </a:rPr>
              <a:t>В строгом порядке построились в ряд,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lt"/>
                <a:cs typeface="+mn-cs"/>
              </a:rPr>
              <a:t>Каждый в условленном месте стоит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0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lt"/>
                <a:cs typeface="+mn-cs"/>
              </a:rPr>
              <a:t>И называется всё …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979712" y="4509120"/>
            <a:ext cx="5256584" cy="1323439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8000" b="1" dirty="0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Алфавит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1000100" y="928670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Тема урока: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907704" y="2060848"/>
            <a:ext cx="5256584" cy="1323439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80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«Алфавит»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827584" y="476672"/>
            <a:ext cx="7772400" cy="77213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План урока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73324" y="1069181"/>
            <a:ext cx="7272808" cy="544764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60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 </a:t>
            </a:r>
            <a:r>
              <a:rPr lang="ru-RU" sz="48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Узнать, что обозначает слово «алфавит»;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48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 для чего нужен алфавит, где его применяют;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48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 тренироваться в расстановке слов по алфавиту.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>
            <a:spLocks noGrp="1"/>
          </p:cNvSpPr>
          <p:nvPr>
            <p:ph type="ctrTitle"/>
          </p:nvPr>
        </p:nvSpPr>
        <p:spPr>
          <a:xfrm>
            <a:off x="755576" y="1340768"/>
            <a:ext cx="7772400" cy="230425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7200" dirty="0" smtClean="0"/>
              <a:t>Что такое </a:t>
            </a:r>
            <a:r>
              <a:rPr lang="ru-RU" sz="7200" dirty="0" smtClean="0">
                <a:solidFill>
                  <a:srgbClr val="FF0000"/>
                </a:solidFill>
              </a:rPr>
              <a:t>алфавит</a:t>
            </a:r>
            <a:r>
              <a:rPr lang="ru-RU" sz="7200" dirty="0" smtClean="0"/>
              <a:t>?</a:t>
            </a:r>
            <a:endParaRPr lang="ru-RU"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298450"/>
            <a:ext cx="8077200" cy="912813"/>
          </a:xfrm>
        </p:spPr>
        <p:txBody>
          <a:bodyPr anchor="ctr"/>
          <a:lstStyle/>
          <a:p>
            <a:r>
              <a:rPr lang="ru-RU" sz="4000" b="0" smtClean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Когда появился</a:t>
            </a:r>
            <a:r>
              <a:rPr lang="ru-RU" sz="4000" b="0" i="1" smtClean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ru-RU" sz="4000" b="0" smtClean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алфавит</a:t>
            </a:r>
            <a:r>
              <a:rPr lang="en-US" sz="4000" b="0" i="1" smtClean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  <a:endParaRPr lang="ru-RU" sz="400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4294967295"/>
          </p:nvPr>
        </p:nvSpPr>
        <p:spPr>
          <a:xfrm>
            <a:off x="457200" y="1412875"/>
            <a:ext cx="3106738" cy="71438"/>
          </a:xfrm>
        </p:spPr>
        <p:txBody>
          <a:bodyPr anchor="b"/>
          <a:lstStyle/>
          <a:p>
            <a:pPr marL="0" indent="0"/>
            <a:endParaRPr lang="ru-RU" sz="2400" b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4294967295"/>
          </p:nvPr>
        </p:nvSpPr>
        <p:spPr>
          <a:xfrm>
            <a:off x="539750" y="1557338"/>
            <a:ext cx="4040188" cy="4679950"/>
          </a:xfrm>
        </p:spPr>
        <p:txBody>
          <a:bodyPr/>
          <a:lstStyle/>
          <a:p>
            <a:pPr marL="0" indent="0"/>
            <a:r>
              <a:rPr lang="ru-RU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Русский алфавит произошел от славянского, созданного в 863 г. Двумя учеными монахами – братьями Кириллом и Мефодием на основе греческого.</a:t>
            </a:r>
          </a:p>
          <a:p>
            <a:pPr marL="0" indent="0"/>
            <a:endParaRPr lang="ru-RU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4572000" y="1844675"/>
            <a:ext cx="4041775" cy="2160588"/>
          </a:xfrm>
        </p:spPr>
        <p:txBody>
          <a:bodyPr anchor="b"/>
          <a:lstStyle/>
          <a:p>
            <a:pPr marL="0" indent="0"/>
            <a:endParaRPr lang="ru-RU" sz="2400" b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6630" name="Picture 4" descr="Картинка 3 из 230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463" y="1844675"/>
            <a:ext cx="3671887" cy="4032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advTm="20843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928662" y="571480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Если расположить буквы в определённом порядке, получится </a:t>
            </a:r>
            <a:r>
              <a:rPr lang="ru-RU" dirty="0" smtClean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</a:rPr>
              <a:t>алфавит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2214546" y="2714620"/>
            <a:ext cx="5072098" cy="37147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85786" y="1142984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Слово «алфавит» происходит из названий первых двух букв греческого алфавита – </a:t>
            </a:r>
            <a:br>
              <a:rPr lang="ru-RU" dirty="0" smtClean="0"/>
            </a:br>
            <a:r>
              <a:rPr lang="ru-RU" u="sng" dirty="0" smtClean="0"/>
              <a:t>альфа и бета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10242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EFFFE"/>
              </a:clrFrom>
              <a:clrTo>
                <a:srgbClr val="FE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7250" y="3786188"/>
            <a:ext cx="22288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Алфавит - это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sz="4000" dirty="0" smtClean="0">
                <a:solidFill>
                  <a:srgbClr val="002060"/>
                </a:solidFill>
              </a:rPr>
              <a:t>все буквы русского языка, расположенные в определённом </a:t>
            </a:r>
            <a:r>
              <a:rPr lang="ru-RU" sz="4000" u="sng" dirty="0" smtClean="0">
                <a:solidFill>
                  <a:srgbClr val="002060"/>
                </a:solidFill>
              </a:rPr>
              <a:t>порядке</a:t>
            </a:r>
            <a:r>
              <a:rPr lang="ru-RU" sz="4000" dirty="0" smtClean="0">
                <a:solidFill>
                  <a:srgbClr val="002060"/>
                </a:solidFill>
              </a:rPr>
              <a:t>. Каждая буква в алфавите имеет своё строго определённое </a:t>
            </a:r>
            <a:r>
              <a:rPr lang="ru-RU" sz="4000" u="sng" dirty="0" smtClean="0">
                <a:solidFill>
                  <a:srgbClr val="002060"/>
                </a:solidFill>
              </a:rPr>
              <a:t>место</a:t>
            </a:r>
            <a:r>
              <a:rPr lang="ru-RU" sz="4000" dirty="0" smtClean="0">
                <a:solidFill>
                  <a:srgbClr val="002060"/>
                </a:solidFill>
              </a:rPr>
              <a:t> и своё </a:t>
            </a:r>
            <a:r>
              <a:rPr lang="ru-RU" sz="4000" u="sng" dirty="0" smtClean="0">
                <a:solidFill>
                  <a:srgbClr val="002060"/>
                </a:solidFill>
              </a:rPr>
              <a:t>название</a:t>
            </a:r>
            <a:r>
              <a:rPr lang="ru-RU" sz="4000" dirty="0" smtClean="0">
                <a:solidFill>
                  <a:srgbClr val="002060"/>
                </a:solidFill>
              </a:rPr>
              <a:t>.</a:t>
            </a:r>
            <a:endParaRPr lang="ru-RU" sz="4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>
            <a:spLocks noGrp="1"/>
          </p:cNvSpPr>
          <p:nvPr>
            <p:ph type="ctrTitle"/>
          </p:nvPr>
        </p:nvSpPr>
        <p:spPr>
          <a:xfrm>
            <a:off x="755576" y="1340768"/>
            <a:ext cx="7772400" cy="230425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7200" dirty="0" smtClean="0"/>
              <a:t>Для чего нужен алфавит?</a:t>
            </a:r>
            <a:endParaRPr lang="ru-RU"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298450"/>
            <a:ext cx="8077200" cy="912813"/>
          </a:xfrm>
        </p:spPr>
        <p:txBody>
          <a:bodyPr anchor="ctr"/>
          <a:lstStyle/>
          <a:p>
            <a:r>
              <a:rPr lang="ru-RU" smtClean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Где и кем используется алфавит?</a:t>
            </a:r>
          </a:p>
        </p:txBody>
      </p:sp>
      <p:sp>
        <p:nvSpPr>
          <p:cNvPr id="30723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457200" y="1557338"/>
            <a:ext cx="4040188" cy="1511300"/>
          </a:xfrm>
        </p:spPr>
        <p:txBody>
          <a:bodyPr anchor="b"/>
          <a:lstStyle/>
          <a:p>
            <a:pPr marL="0" indent="0"/>
            <a:r>
              <a:rPr lang="ru-RU" sz="20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1) В библиотеке. Там книги на полках расставлены не только по темам, но и в алфавитном порядке, по фамилии авторов.	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4294967295"/>
          </p:nvPr>
        </p:nvSpPr>
        <p:spPr>
          <a:xfrm>
            <a:off x="4370388" y="1612900"/>
            <a:ext cx="4152900" cy="1400175"/>
          </a:xfrm>
        </p:spPr>
        <p:txBody>
          <a:bodyPr anchor="b"/>
          <a:lstStyle/>
          <a:p>
            <a:pPr marL="0" indent="0"/>
            <a:r>
              <a:rPr lang="ru-RU" sz="20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2) В орфографическом словаре мы можем узнать правильное написание различных слов. </a:t>
            </a:r>
          </a:p>
          <a:p>
            <a:pPr marL="0" indent="0"/>
            <a:endParaRPr lang="ru-RU" sz="2400" b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7653" name="Picture 5" descr="Картинка 1 из 64000">
            <a:hlinkClick r:id="rId3"/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3500438"/>
            <a:ext cx="4040187" cy="2708275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27654" name="Picture 12" descr="Картинка 15 из 6089">
            <a:hlinkClick r:id="rId5"/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65738" y="3284538"/>
            <a:ext cx="2800350" cy="31686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advTm="86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idx="4294967295"/>
          </p:nvPr>
        </p:nvSpPr>
        <p:spPr>
          <a:xfrm>
            <a:off x="457200" y="298450"/>
            <a:ext cx="8077200" cy="219075"/>
          </a:xfrm>
        </p:spPr>
        <p:txBody>
          <a:bodyPr anchor="ctr"/>
          <a:lstStyle/>
          <a:p>
            <a:endParaRPr lang="ru-RU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idx="4294967295"/>
          </p:nvPr>
        </p:nvSpPr>
        <p:spPr>
          <a:xfrm>
            <a:off x="457200" y="836613"/>
            <a:ext cx="4043363" cy="1871662"/>
          </a:xfrm>
        </p:spPr>
        <p:txBody>
          <a:bodyPr anchor="b"/>
          <a:lstStyle/>
          <a:p>
            <a:pPr marL="0" indent="0"/>
            <a:r>
              <a:rPr lang="ru-RU" sz="20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3) В классном журнале соблюдается строгий порядок. Все фамилии в алфавитном порядке</a:t>
            </a:r>
            <a:r>
              <a:rPr lang="ru-RU" sz="20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marL="0" indent="0"/>
            <a:endParaRPr lang="ru-RU" sz="2400" b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94967295"/>
          </p:nvPr>
        </p:nvSpPr>
        <p:spPr>
          <a:xfrm>
            <a:off x="4645025" y="836613"/>
            <a:ext cx="4103688" cy="1728787"/>
          </a:xfrm>
        </p:spPr>
        <p:txBody>
          <a:bodyPr anchor="b"/>
          <a:lstStyle/>
          <a:p>
            <a:pPr marL="0" indent="0"/>
            <a:r>
              <a:rPr lang="ru-RU" sz="20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4) На избирательном участке во время выборов. Таблички с буквами в алфавитном порядке указывают на первую букву фамилии избирателей.</a:t>
            </a:r>
            <a:endParaRPr lang="ru-RU" sz="2000" b="1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8677" name="Picture 8" descr="288969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2997200"/>
            <a:ext cx="3638550" cy="3273425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28678" name="Picture 6" descr="i?id=5797732-10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3438" y="2852738"/>
            <a:ext cx="4041775" cy="3313112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274638"/>
            <a:ext cx="8229600" cy="242887"/>
          </a:xfrm>
        </p:spPr>
        <p:txBody>
          <a:bodyPr anchor="ctr"/>
          <a:lstStyle/>
          <a:p>
            <a:endParaRPr lang="ru-RU" sz="400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971550" y="620713"/>
            <a:ext cx="5965825" cy="2303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5) В регистратуре поликлиники карточки посетителей расположены по участкам в алфавитном порядке.</a:t>
            </a:r>
          </a:p>
        </p:txBody>
      </p:sp>
      <p:pic>
        <p:nvPicPr>
          <p:cNvPr id="29700" name="Picture 5" descr="i?&amp;tov=0&amp;id=34849470-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2950" y="692150"/>
            <a:ext cx="1714500" cy="1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7" descr="i?id=90103734-0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2950" y="3213100"/>
            <a:ext cx="1800225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684213" y="3068638"/>
            <a:ext cx="6264275" cy="350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6) В телефонном справочнике. Телефоны предприятий, различных служб и учреждений расположены в алфавитном порядке. Квартирные телефоны тоже в алфавитном порядке.</a:t>
            </a:r>
          </a:p>
        </p:txBody>
      </p:sp>
    </p:spTree>
    <p:custDataLst>
      <p:tags r:id="rId1"/>
    </p:custDataLst>
  </p:cSld>
  <p:clrMapOvr>
    <a:masterClrMapping/>
  </p:clrMapOvr>
  <p:transition advTm="1095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1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1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8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274638"/>
            <a:ext cx="8229600" cy="242887"/>
          </a:xfrm>
        </p:spPr>
        <p:txBody>
          <a:bodyPr anchor="ctr"/>
          <a:lstStyle/>
          <a:p>
            <a:endParaRPr lang="ru-RU" sz="4000" smtClean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843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838200" y="549275"/>
            <a:ext cx="7910513" cy="2159000"/>
          </a:xfrm>
        </p:spPr>
        <p:txBody>
          <a:bodyPr/>
          <a:lstStyle/>
          <a:p>
            <a:r>
              <a:rPr lang="ru-RU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7) В энциклопедиях, в конце есть указатель, понятия расположены здесь в алфавитном порядке и рядом написаны номера страниц. 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4438" y="2903538"/>
            <a:ext cx="3605212" cy="395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  <p:transition advTm="61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857224" y="1000108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Какие буквы пропущены?</a:t>
            </a:r>
            <a:endParaRPr lang="ru-RU" dirty="0"/>
          </a:p>
        </p:txBody>
      </p:sp>
      <p:sp>
        <p:nvSpPr>
          <p:cNvPr id="13314" name="TextBox 4"/>
          <p:cNvSpPr txBox="1">
            <a:spLocks noChangeArrowheads="1"/>
          </p:cNvSpPr>
          <p:nvPr/>
        </p:nvSpPr>
        <p:spPr bwMode="auto">
          <a:xfrm>
            <a:off x="827088" y="1773238"/>
            <a:ext cx="7345362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>
                <a:latin typeface="Calibri" pitchFamily="34" charset="0"/>
              </a:rPr>
              <a:t>Аа   ?   Вв   ?    Дд  Ее   ?   Жж  Зз Ии   ?   Кк   Лл   ?   Нн   ?   Пп  Рр   Сс   ?      Уу   ?   Хх   ?   Чч   Шш  ?   ъ   ы   ?   Ээ   Юю  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Запиши </a:t>
            </a:r>
            <a:r>
              <a:rPr lang="ru-RU" u="sng" dirty="0" smtClean="0"/>
              <a:t>в тетради </a:t>
            </a:r>
            <a:r>
              <a:rPr lang="ru-RU" dirty="0" smtClean="0"/>
              <a:t>все строчные письменные буквы по алфавиту.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683568" y="692696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Тренировка в расстановке слов по алфавиту</a:t>
            </a:r>
            <a:endParaRPr lang="ru-RU" dirty="0"/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827088" y="2781300"/>
            <a:ext cx="7772400" cy="1470025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ru-RU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39" name="Прямоугольник 6"/>
          <p:cNvSpPr>
            <a:spLocks noChangeArrowheads="1"/>
          </p:cNvSpPr>
          <p:nvPr/>
        </p:nvSpPr>
        <p:spPr bwMode="auto">
          <a:xfrm>
            <a:off x="468313" y="2133600"/>
            <a:ext cx="8207375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b="1" i="1" dirty="0">
                <a:latin typeface="Calibri" pitchFamily="34" charset="0"/>
              </a:rPr>
              <a:t>  Словарь:   </a:t>
            </a:r>
            <a:r>
              <a:rPr lang="ru-RU" sz="5400" dirty="0">
                <a:latin typeface="Calibri" pitchFamily="34" charset="0"/>
              </a:rPr>
              <a:t> </a:t>
            </a:r>
            <a:r>
              <a:rPr lang="ru-RU" sz="5400" dirty="0" smtClean="0">
                <a:solidFill>
                  <a:srgbClr val="00B0F0"/>
                </a:solidFill>
                <a:latin typeface="Calibri" pitchFamily="34" charset="0"/>
              </a:rPr>
              <a:t>у</a:t>
            </a:r>
            <a:r>
              <a:rPr lang="ru-RU" sz="5400" dirty="0" smtClean="0">
                <a:latin typeface="Calibri" pitchFamily="34" charset="0"/>
              </a:rPr>
              <a:t>ч</a:t>
            </a:r>
            <a:r>
              <a:rPr lang="ru-RU" sz="5400" dirty="0">
                <a:latin typeface="Calibri" pitchFamily="34" charset="0"/>
              </a:rPr>
              <a:t>е</a:t>
            </a:r>
            <a:r>
              <a:rPr lang="ru-RU" sz="5400" dirty="0" smtClean="0">
                <a:latin typeface="Calibri" pitchFamily="34" charset="0"/>
              </a:rPr>
              <a:t>ник</a:t>
            </a:r>
            <a:r>
              <a:rPr lang="ru-RU" sz="5400" dirty="0">
                <a:latin typeface="Calibri" pitchFamily="34" charset="0"/>
              </a:rPr>
              <a:t>, </a:t>
            </a:r>
            <a:r>
              <a:rPr lang="ru-RU" sz="5400" dirty="0" smtClean="0">
                <a:solidFill>
                  <a:srgbClr val="00B0F0"/>
                </a:solidFill>
                <a:latin typeface="Calibri" pitchFamily="34" charset="0"/>
              </a:rPr>
              <a:t>р</a:t>
            </a:r>
            <a:r>
              <a:rPr lang="ru-RU" sz="5400" dirty="0" smtClean="0">
                <a:latin typeface="Calibri" pitchFamily="34" charset="0"/>
              </a:rPr>
              <a:t>ебята</a:t>
            </a:r>
            <a:r>
              <a:rPr lang="ru-RU" sz="5400" dirty="0">
                <a:latin typeface="Calibri" pitchFamily="34" charset="0"/>
              </a:rPr>
              <a:t>, </a:t>
            </a:r>
            <a:r>
              <a:rPr lang="ru-RU" sz="5400" dirty="0" smtClean="0">
                <a:solidFill>
                  <a:srgbClr val="00B0F0"/>
                </a:solidFill>
                <a:latin typeface="Calibri" pitchFamily="34" charset="0"/>
              </a:rPr>
              <a:t>д</a:t>
            </a:r>
            <a:r>
              <a:rPr lang="ru-RU" sz="5400" dirty="0" smtClean="0">
                <a:latin typeface="Calibri" pitchFamily="34" charset="0"/>
              </a:rPr>
              <a:t>евочка</a:t>
            </a:r>
            <a:r>
              <a:rPr lang="ru-RU" sz="5400" dirty="0">
                <a:latin typeface="Calibri" pitchFamily="34" charset="0"/>
              </a:rPr>
              <a:t>, </a:t>
            </a:r>
            <a:r>
              <a:rPr lang="ru-RU" sz="5400" dirty="0" smtClean="0">
                <a:solidFill>
                  <a:srgbClr val="00B0F0"/>
                </a:solidFill>
                <a:latin typeface="Calibri" pitchFamily="34" charset="0"/>
              </a:rPr>
              <a:t>с</a:t>
            </a:r>
            <a:r>
              <a:rPr lang="ru-RU" sz="5400" dirty="0" smtClean="0">
                <a:latin typeface="Calibri" pitchFamily="34" charset="0"/>
              </a:rPr>
              <a:t>обака</a:t>
            </a:r>
            <a:r>
              <a:rPr lang="ru-RU" sz="5400" dirty="0">
                <a:latin typeface="Calibri" pitchFamily="34" charset="0"/>
              </a:rPr>
              <a:t>, </a:t>
            </a:r>
            <a:r>
              <a:rPr lang="ru-RU" sz="5400" dirty="0" smtClean="0">
                <a:solidFill>
                  <a:srgbClr val="00B0F0"/>
                </a:solidFill>
                <a:latin typeface="Calibri" pitchFamily="34" charset="0"/>
              </a:rPr>
              <a:t>у</a:t>
            </a:r>
            <a:r>
              <a:rPr lang="ru-RU" sz="5400" dirty="0" smtClean="0">
                <a:latin typeface="Calibri" pitchFamily="34" charset="0"/>
              </a:rPr>
              <a:t>читель</a:t>
            </a:r>
            <a:r>
              <a:rPr lang="ru-RU" sz="5400" dirty="0">
                <a:latin typeface="Calibri" pitchFamily="34" charset="0"/>
              </a:rPr>
              <a:t>, </a:t>
            </a:r>
            <a:r>
              <a:rPr lang="ru-RU" sz="5400" dirty="0" smtClean="0">
                <a:solidFill>
                  <a:srgbClr val="00B0F0"/>
                </a:solidFill>
                <a:latin typeface="Calibri" pitchFamily="34" charset="0"/>
              </a:rPr>
              <a:t>в</a:t>
            </a:r>
            <a:r>
              <a:rPr lang="ru-RU" sz="5400" dirty="0" smtClean="0">
                <a:latin typeface="Calibri" pitchFamily="34" charset="0"/>
              </a:rPr>
              <a:t>орона.</a:t>
            </a:r>
          </a:p>
          <a:p>
            <a:r>
              <a:rPr lang="ru-RU" sz="4000" b="1" dirty="0" smtClean="0">
                <a:solidFill>
                  <a:srgbClr val="7030A0"/>
                </a:solidFill>
                <a:latin typeface="Calibri" pitchFamily="34" charset="0"/>
              </a:rPr>
              <a:t>Запиши в </a:t>
            </a:r>
            <a:r>
              <a:rPr lang="ru-RU" sz="4000" b="1" u="sng" dirty="0" smtClean="0">
                <a:solidFill>
                  <a:srgbClr val="7030A0"/>
                </a:solidFill>
                <a:latin typeface="Calibri" pitchFamily="34" charset="0"/>
              </a:rPr>
              <a:t>тетради</a:t>
            </a:r>
            <a:r>
              <a:rPr lang="ru-RU" sz="4000" b="1" dirty="0" smtClean="0">
                <a:solidFill>
                  <a:srgbClr val="7030A0"/>
                </a:solidFill>
                <a:latin typeface="Calibri" pitchFamily="34" charset="0"/>
              </a:rPr>
              <a:t> слова в алфавитном порядке(смотри на первую букву)</a:t>
            </a:r>
            <a:endParaRPr lang="ru-RU" sz="4000" b="1" dirty="0">
              <a:solidFill>
                <a:srgbClr val="7030A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55576" y="404664"/>
            <a:ext cx="7772400" cy="122413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Проверь себя:</a:t>
            </a:r>
            <a:endParaRPr lang="ru-RU" dirty="0"/>
          </a:p>
        </p:txBody>
      </p:sp>
      <p:sp>
        <p:nvSpPr>
          <p:cNvPr id="4" name="Заголовок 2"/>
          <p:cNvSpPr txBox="1">
            <a:spLocks/>
          </p:cNvSpPr>
          <p:nvPr/>
        </p:nvSpPr>
        <p:spPr>
          <a:xfrm>
            <a:off x="971550" y="2060575"/>
            <a:ext cx="3455988" cy="504825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ru-RU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2"/>
          <p:cNvSpPr txBox="1">
            <a:spLocks/>
          </p:cNvSpPr>
          <p:nvPr/>
        </p:nvSpPr>
        <p:spPr>
          <a:xfrm>
            <a:off x="1123950" y="2212975"/>
            <a:ext cx="3455988" cy="504825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ru-RU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Заголовок 2"/>
          <p:cNvSpPr txBox="1">
            <a:spLocks/>
          </p:cNvSpPr>
          <p:nvPr/>
        </p:nvSpPr>
        <p:spPr>
          <a:xfrm>
            <a:off x="1276350" y="2365375"/>
            <a:ext cx="3455988" cy="504825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ru-RU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Заголовок 2"/>
          <p:cNvSpPr txBox="1">
            <a:spLocks/>
          </p:cNvSpPr>
          <p:nvPr/>
        </p:nvSpPr>
        <p:spPr>
          <a:xfrm>
            <a:off x="1581150" y="2670175"/>
            <a:ext cx="3455988" cy="504825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ru-RU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Заголовок 2"/>
          <p:cNvSpPr txBox="1">
            <a:spLocks/>
          </p:cNvSpPr>
          <p:nvPr/>
        </p:nvSpPr>
        <p:spPr>
          <a:xfrm>
            <a:off x="1733550" y="2822575"/>
            <a:ext cx="3455988" cy="504825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ru-RU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Заголовок 2"/>
          <p:cNvSpPr txBox="1">
            <a:spLocks/>
          </p:cNvSpPr>
          <p:nvPr/>
        </p:nvSpPr>
        <p:spPr>
          <a:xfrm>
            <a:off x="1042988" y="1989138"/>
            <a:ext cx="3457575" cy="503237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ru-RU" sz="44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771775" y="1700213"/>
            <a:ext cx="27368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dirty="0">
                <a:latin typeface="Calibri" pitchFamily="34" charset="0"/>
              </a:rPr>
              <a:t>в</a:t>
            </a:r>
            <a:r>
              <a:rPr lang="ru-RU" sz="5400" dirty="0">
                <a:solidFill>
                  <a:srgbClr val="C00000"/>
                </a:solidFill>
                <a:latin typeface="Calibri" pitchFamily="34" charset="0"/>
              </a:rPr>
              <a:t>…</a:t>
            </a:r>
            <a:r>
              <a:rPr lang="ru-RU" sz="5400" dirty="0" err="1">
                <a:latin typeface="Calibri" pitchFamily="34" charset="0"/>
              </a:rPr>
              <a:t>рона</a:t>
            </a:r>
            <a:r>
              <a:rPr lang="ru-RU" sz="5400" dirty="0">
                <a:latin typeface="Calibri" pitchFamily="34" charset="0"/>
              </a:rPr>
              <a:t>,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700338" y="2492375"/>
            <a:ext cx="29511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>
                <a:latin typeface="Calibri" pitchFamily="34" charset="0"/>
              </a:rPr>
              <a:t>дев</a:t>
            </a:r>
            <a:r>
              <a:rPr lang="ru-RU" sz="5400">
                <a:solidFill>
                  <a:srgbClr val="C00000"/>
                </a:solidFill>
                <a:latin typeface="Calibri" pitchFamily="34" charset="0"/>
              </a:rPr>
              <a:t>…</a:t>
            </a:r>
            <a:r>
              <a:rPr lang="ru-RU" sz="5400">
                <a:latin typeface="Calibri" pitchFamily="34" charset="0"/>
              </a:rPr>
              <a:t>чка,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700338" y="3284538"/>
            <a:ext cx="29511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dirty="0">
                <a:latin typeface="Calibri" pitchFamily="34" charset="0"/>
              </a:rPr>
              <a:t>р</a:t>
            </a:r>
            <a:r>
              <a:rPr lang="ru-RU" sz="5400" dirty="0">
                <a:solidFill>
                  <a:srgbClr val="C00000"/>
                </a:solidFill>
                <a:latin typeface="Calibri" pitchFamily="34" charset="0"/>
              </a:rPr>
              <a:t>…</a:t>
            </a:r>
            <a:r>
              <a:rPr lang="ru-RU" sz="5400" dirty="0" err="1">
                <a:latin typeface="Calibri" pitchFamily="34" charset="0"/>
              </a:rPr>
              <a:t>бята</a:t>
            </a:r>
            <a:r>
              <a:rPr lang="ru-RU" sz="5400" dirty="0">
                <a:latin typeface="Calibri" pitchFamily="34" charset="0"/>
              </a:rPr>
              <a:t>,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700338" y="4076700"/>
            <a:ext cx="29511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dirty="0">
                <a:latin typeface="Calibri" pitchFamily="34" charset="0"/>
              </a:rPr>
              <a:t>с</a:t>
            </a:r>
            <a:r>
              <a:rPr lang="ru-RU" sz="5400" dirty="0">
                <a:solidFill>
                  <a:srgbClr val="C00000"/>
                </a:solidFill>
                <a:latin typeface="Calibri" pitchFamily="34" charset="0"/>
              </a:rPr>
              <a:t>…</a:t>
            </a:r>
            <a:r>
              <a:rPr lang="ru-RU" sz="5400" dirty="0">
                <a:latin typeface="Calibri" pitchFamily="34" charset="0"/>
              </a:rPr>
              <a:t>бака,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771775" y="5589588"/>
            <a:ext cx="2952750" cy="922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dirty="0">
                <a:latin typeface="Calibri" pitchFamily="34" charset="0"/>
              </a:rPr>
              <a:t>учит</a:t>
            </a:r>
            <a:r>
              <a:rPr lang="ru-RU" sz="5400" dirty="0">
                <a:solidFill>
                  <a:srgbClr val="C00000"/>
                </a:solidFill>
                <a:latin typeface="Calibri" pitchFamily="34" charset="0"/>
              </a:rPr>
              <a:t>…</a:t>
            </a:r>
            <a:r>
              <a:rPr lang="ru-RU" sz="5400" dirty="0">
                <a:latin typeface="Calibri" pitchFamily="34" charset="0"/>
              </a:rPr>
              <a:t>ль. 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771775" y="4797425"/>
            <a:ext cx="2952750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dirty="0" err="1">
                <a:latin typeface="Calibri" pitchFamily="34" charset="0"/>
              </a:rPr>
              <a:t>уч</a:t>
            </a:r>
            <a:r>
              <a:rPr lang="ru-RU" sz="5400" dirty="0">
                <a:solidFill>
                  <a:srgbClr val="C00000"/>
                </a:solidFill>
                <a:latin typeface="Calibri" pitchFamily="34" charset="0"/>
              </a:rPr>
              <a:t>…</a:t>
            </a:r>
            <a:r>
              <a:rPr lang="ru-RU" sz="5400" dirty="0">
                <a:latin typeface="Calibri" pitchFamily="34" charset="0"/>
              </a:rPr>
              <a:t>ник,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132138" y="1557338"/>
            <a:ext cx="576262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6600" b="1" dirty="0">
                <a:solidFill>
                  <a:srgbClr val="FF0000"/>
                </a:solidFill>
                <a:latin typeface="Calibri" pitchFamily="34" charset="0"/>
              </a:rPr>
              <a:t>о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779838" y="2349500"/>
            <a:ext cx="576262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6600" b="1" dirty="0">
                <a:solidFill>
                  <a:srgbClr val="FF0000"/>
                </a:solidFill>
                <a:latin typeface="Calibri" pitchFamily="34" charset="0"/>
              </a:rPr>
              <a:t>о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132138" y="3141663"/>
            <a:ext cx="576262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6600" b="1" dirty="0">
                <a:solidFill>
                  <a:srgbClr val="FF0000"/>
                </a:solidFill>
                <a:latin typeface="Calibri" pitchFamily="34" charset="0"/>
              </a:rPr>
              <a:t>е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3059113" y="3933825"/>
            <a:ext cx="576262" cy="110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6600" b="1">
                <a:solidFill>
                  <a:srgbClr val="FF0000"/>
                </a:solidFill>
                <a:latin typeface="Calibri" pitchFamily="34" charset="0"/>
              </a:rPr>
              <a:t>о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3419475" y="4652963"/>
            <a:ext cx="576263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6600" b="1">
                <a:solidFill>
                  <a:srgbClr val="FF0000"/>
                </a:solidFill>
                <a:latin typeface="Calibri" pitchFamily="34" charset="0"/>
              </a:rPr>
              <a:t>е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4067175" y="5445125"/>
            <a:ext cx="576263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6600" b="1">
                <a:solidFill>
                  <a:srgbClr val="FF0000"/>
                </a:solidFill>
                <a:latin typeface="Calibri" pitchFamily="34" charset="0"/>
              </a:rPr>
              <a:t>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1"/>
      <p:bldP spid="21" grpId="1"/>
      <p:bldP spid="22" grpId="1"/>
      <p:bldP spid="23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539552" y="404664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Расставьте пословицы в алфавитном порядке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755650" y="1916113"/>
          <a:ext cx="7272338" cy="4656774"/>
        </p:xfrm>
        <a:graphic>
          <a:graphicData uri="http://schemas.openxmlformats.org/drawingml/2006/table">
            <a:tbl>
              <a:tblPr/>
              <a:tblGrid>
                <a:gridCol w="727075"/>
                <a:gridCol w="6545263"/>
              </a:tblGrid>
              <a:tr h="820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Грамоте учиться всегда пригодится.</a:t>
                      </a: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0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Азбука – к мудрости ступенька.</a:t>
                      </a: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0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Делаешь наспех – сделаешь на смех.</a:t>
                      </a: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0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Богатством ума не купишь.</a:t>
                      </a: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0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Век живи – век учись.</a:t>
                      </a:r>
                    </a:p>
                  </a:txBody>
                  <a:tcPr marL="58788" marR="5878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27088" y="2924175"/>
            <a:ext cx="5762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b="1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27088" y="2060575"/>
            <a:ext cx="5762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b="1">
                <a:solidFill>
                  <a:srgbClr val="0070C0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00113" y="5661025"/>
            <a:ext cx="5762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b="1">
                <a:solidFill>
                  <a:srgbClr val="0070C0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27088" y="4868863"/>
            <a:ext cx="57626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b="1">
                <a:solidFill>
                  <a:srgbClr val="0070C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27088" y="3933825"/>
            <a:ext cx="576262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b="1">
                <a:solidFill>
                  <a:srgbClr val="0070C0"/>
                </a:solidFill>
                <a:latin typeface="Calibri" pitchFamily="34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55576" y="692696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Поставь слова </a:t>
            </a:r>
            <a:br>
              <a:rPr lang="ru-RU" dirty="0" smtClean="0"/>
            </a:br>
            <a:r>
              <a:rPr lang="ru-RU" dirty="0" smtClean="0"/>
              <a:t>в алфавитном порядке</a:t>
            </a:r>
            <a:endParaRPr lang="ru-RU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900113" y="2852738"/>
            <a:ext cx="1871662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волна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971550" y="2133600"/>
            <a:ext cx="187166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море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900113" y="3573463"/>
            <a:ext cx="230346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остров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971550" y="4292600"/>
            <a:ext cx="23050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рыбы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71550" y="5084763"/>
            <a:ext cx="23050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пляж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364163" y="2924175"/>
            <a:ext cx="1871662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море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5364163" y="2205038"/>
            <a:ext cx="187166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волна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292725" y="3644900"/>
            <a:ext cx="2303463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остров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364163" y="4365625"/>
            <a:ext cx="230346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пляж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5364163" y="5157788"/>
            <a:ext cx="230346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800">
                <a:latin typeface="Times New Roman" pitchFamily="18" charset="0"/>
                <a:cs typeface="Times New Roman" pitchFamily="18" charset="0"/>
              </a:rPr>
              <a:t>рыбы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6" grpId="0"/>
      <p:bldP spid="17" grpId="0"/>
      <p:bldP spid="18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899592" y="548680"/>
            <a:ext cx="7772400" cy="7920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Библиотека школьника</a:t>
            </a:r>
            <a:endParaRPr lang="ru-RU" dirty="0"/>
          </a:p>
        </p:txBody>
      </p:sp>
      <p:pic>
        <p:nvPicPr>
          <p:cNvPr id="21506" name="Picture 2" descr="http://pic.news.mail.ru/prev670w/pic/81/99/main13302051_ffcd718e4a1a8739f149a8a9fdf488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538" y="2276475"/>
            <a:ext cx="4940300" cy="401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Заголовок 2"/>
          <p:cNvSpPr txBox="1">
            <a:spLocks/>
          </p:cNvSpPr>
          <p:nvPr/>
        </p:nvSpPr>
        <p:spPr>
          <a:xfrm>
            <a:off x="1043608" y="1340768"/>
            <a:ext cx="7772400" cy="792088"/>
          </a:xfrm>
          <a:prstGeom prst="rect">
            <a:avLst/>
          </a:prstGeo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ru-RU" sz="4400" b="1" dirty="0">
                <a:ln w="18000">
                  <a:solidFill>
                    <a:srgbClr val="0070C0"/>
                  </a:solidFill>
                  <a:prstDash val="solid"/>
                  <a:miter lim="800000"/>
                </a:ln>
                <a:solidFill>
                  <a:srgbClr val="FF0000"/>
                </a:solidFill>
                <a:latin typeface="+mj-lt"/>
                <a:ea typeface="+mj-ea"/>
                <a:cs typeface="+mj-cs"/>
              </a:rPr>
              <a:t>Корней Иванович Чуковский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4" descr="http://www.clipartov.net/images/mini/18/0000017574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6013" y="1268413"/>
            <a:ext cx="14287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6" descr="http://www.venusbuzz.com/wp-content/uploads/red-pushpin-flag-620x496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11413" y="1268413"/>
            <a:ext cx="1296987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0" name="Picture 2" descr="https://im3-tub-ru.yandex.net/i?id=fa2f088c75efa4f4c01b69cc1ac85093&amp;n=33&amp;h=17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5288" y="1412875"/>
            <a:ext cx="1081087" cy="133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10" descr="https://im3-tub-ru.yandex.net/i?id=76d7c4810a507e76b4d41767624942a1&amp;n=33&amp;h=17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00563" y="1341438"/>
            <a:ext cx="2082800" cy="147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14" descr="https://im0-tub-ru.yandex.net/i?id=7169000b6d862d3d747eaaa265caa28d&amp;n=33&amp;h=170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88125" y="1196975"/>
            <a:ext cx="107632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16" descr="http://mir-stone.net/im/tel.png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EFDFD"/>
              </a:clrFrom>
              <a:clrTo>
                <a:srgbClr val="FE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24750" y="1341438"/>
            <a:ext cx="1336675" cy="134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4" name="Picture 2" descr="https://im3-tub-ru.yandex.net/i?id=fa2f088c75efa4f4c01b69cc1ac85093&amp;n=33&amp;h=17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63938" y="1412875"/>
            <a:ext cx="1079500" cy="133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Прямоугольник 12"/>
          <p:cNvSpPr/>
          <p:nvPr/>
        </p:nvSpPr>
        <p:spPr>
          <a:xfrm>
            <a:off x="752277" y="2556967"/>
            <a:ext cx="720080" cy="15841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9600" b="1" dirty="0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а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671043" y="2556967"/>
            <a:ext cx="720079" cy="15841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9600" b="1" dirty="0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л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2771800" y="2556967"/>
            <a:ext cx="720080" cy="15841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9600" b="1" dirty="0" err="1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ф</a:t>
            </a:r>
            <a:endParaRPr lang="ru-RU" sz="9600" b="1" dirty="0">
              <a:ln w="11430">
                <a:solidFill>
                  <a:srgbClr val="002060"/>
                </a:solidFill>
              </a:ln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n-lt"/>
              <a:cs typeface="+mn-cs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86845" y="2627387"/>
            <a:ext cx="720080" cy="15841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9600" b="1" dirty="0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4962203" y="2627387"/>
            <a:ext cx="720080" cy="15841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9600" b="1" dirty="0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в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441479" y="2627387"/>
            <a:ext cx="720080" cy="156966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9600" b="1" dirty="0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и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7423745" y="2627387"/>
            <a:ext cx="720080" cy="15841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9600" b="1" dirty="0">
                <a:ln w="11430">
                  <a:solidFill>
                    <a:srgbClr val="002060"/>
                  </a:solidFill>
                </a:ln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 anchor="ctr"/>
          <a:lstStyle/>
          <a:p>
            <a:r>
              <a:rPr lang="ru-RU" smtClean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Выводы</a:t>
            </a:r>
          </a:p>
        </p:txBody>
      </p:sp>
      <p:sp>
        <p:nvSpPr>
          <p:cNvPr id="41987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827088" y="1773238"/>
            <a:ext cx="8007350" cy="45481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800" b="1" i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Алфавит </a:t>
            </a:r>
            <a:r>
              <a:rPr lang="ru-RU" sz="280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- это система, порядок. А что даёт такая система? Прежде всего, экономию времени. И это уже не мало в наш быстротечный век.</a:t>
            </a:r>
          </a:p>
          <a:p>
            <a:pPr>
              <a:lnSpc>
                <a:spcPct val="90000"/>
              </a:lnSpc>
            </a:pPr>
            <a:r>
              <a:rPr lang="ru-RU" sz="2800" b="1" i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Алфавит</a:t>
            </a:r>
            <a:r>
              <a:rPr lang="ru-RU" sz="280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itchFamily="34" charset="-128"/>
              </a:rPr>
              <a:t> нужен везде для наведения порядка. И поэтому необходимо выучить его наизусть. Без знания алфавитного порядка нам сложно пользоваться словарём, трудно найти информацию в энциклопедиях и справочниках, не сможем хорошо учиться в школе и работать, когда станем взрослыми.</a:t>
            </a:r>
          </a:p>
        </p:txBody>
      </p:sp>
    </p:spTree>
    <p:custDataLst>
      <p:tags r:id="rId1"/>
    </p:custDataLst>
  </p:cSld>
  <p:clrMapOvr>
    <a:masterClrMapping/>
  </p:clrMapOvr>
  <p:transition advTm="13609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827584" y="476672"/>
            <a:ext cx="7772400" cy="77213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Чему научились?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187624" y="1124744"/>
            <a:ext cx="7272808" cy="544764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60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 </a:t>
            </a:r>
            <a:r>
              <a:rPr lang="ru-RU" sz="48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Узнали, что обозначает слово «алфавит»;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48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 для чего нужен алфавит, где его применяют;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4800" b="1" dirty="0">
                <a:ln w="11430">
                  <a:solidFill>
                    <a:srgbClr val="002060"/>
                  </a:solidFill>
                </a:ln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 тренировались в расстановке слов по алфавиту.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857224" y="714356"/>
            <a:ext cx="8072494" cy="18573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4000" dirty="0" smtClean="0"/>
              <a:t>Выучи алфавит! (упр.1)</a:t>
            </a:r>
            <a:br>
              <a:rPr lang="ru-RU" sz="4000" dirty="0" smtClean="0"/>
            </a:br>
            <a:r>
              <a:rPr lang="ru-RU" sz="4000" dirty="0" smtClean="0"/>
              <a:t>Выучи правило!</a:t>
            </a:r>
            <a:br>
              <a:rPr lang="ru-RU" sz="4000" dirty="0" smtClean="0"/>
            </a:br>
            <a:r>
              <a:rPr lang="ru-RU" sz="4000" dirty="0" smtClean="0"/>
              <a:t>(стр.52)</a:t>
            </a:r>
            <a:endParaRPr lang="ru-RU" sz="4000" dirty="0"/>
          </a:p>
        </p:txBody>
      </p:sp>
      <p:pic>
        <p:nvPicPr>
          <p:cNvPr id="23554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00339" y="2786058"/>
            <a:ext cx="3371860" cy="363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 smtClean="0"/>
              <a:t>Ты понял как располагать слова в алфавитном порядке?</a:t>
            </a:r>
            <a:r>
              <a:rPr lang="ru-RU" sz="6000" smtClean="0"/>
              <a:t/>
            </a:r>
            <a:br>
              <a:rPr lang="ru-RU" sz="6000" smtClean="0"/>
            </a:br>
            <a:endParaRPr lang="ru-RU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.9|2.3|3.3|7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4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5"/>
</p:tagLst>
</file>

<file path=ppt/theme/theme1.xml><?xml version="1.0" encoding="utf-8"?>
<a:theme xmlns:a="http://schemas.openxmlformats.org/drawingml/2006/main" name="Презентация Microsoft Office PowerPoint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Презентация2</Template>
  <TotalTime>708</TotalTime>
  <Words>575</Words>
  <Application>Microsoft Office PowerPoint</Application>
  <PresentationFormat>Экран (4:3)</PresentationFormat>
  <Paragraphs>89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Презентация Microsoft Office PowerPoint</vt:lpstr>
      <vt:lpstr>Слайд 1</vt:lpstr>
      <vt:lpstr>Отгадай загадку!</vt:lpstr>
      <vt:lpstr>Тема урока:</vt:lpstr>
      <vt:lpstr>План урока</vt:lpstr>
      <vt:lpstr>Что такое алфавит?</vt:lpstr>
      <vt:lpstr>Когда появился алфавит?</vt:lpstr>
      <vt:lpstr>Если расположить буквы в определённом порядке, получится алфавит</vt:lpstr>
      <vt:lpstr>Слово «алфавит» происходит из названий первых двух букв греческого алфавита –  альфа и бета.  </vt:lpstr>
      <vt:lpstr>Алфавит - это</vt:lpstr>
      <vt:lpstr>Для чего нужен алфавит?</vt:lpstr>
      <vt:lpstr>Где и кем используется алфавит?</vt:lpstr>
      <vt:lpstr>Слайд 12</vt:lpstr>
      <vt:lpstr>Слайд 13</vt:lpstr>
      <vt:lpstr>Слайд 14</vt:lpstr>
      <vt:lpstr>Какие буквы пропущены?</vt:lpstr>
      <vt:lpstr>Запиши в тетради все строчные письменные буквы по алфавиту.</vt:lpstr>
      <vt:lpstr>Тренировка в расстановке слов по алфавиту</vt:lpstr>
      <vt:lpstr>Проверь себя:</vt:lpstr>
      <vt:lpstr>Расставьте пословицы в алфавитном порядке</vt:lpstr>
      <vt:lpstr>Поставь слова  в алфавитном порядке</vt:lpstr>
      <vt:lpstr>Библиотека школьника</vt:lpstr>
      <vt:lpstr>Слайд 22</vt:lpstr>
      <vt:lpstr>Выводы</vt:lpstr>
      <vt:lpstr>Чему научились?</vt:lpstr>
      <vt:lpstr>Выучи алфавит! (упр.1) Выучи правило! (стр.52)</vt:lpstr>
      <vt:lpstr>Ты понял как располагать слова в алфавитном порядке? 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UserXP</dc:creator>
  <cp:lastModifiedBy>Ольга</cp:lastModifiedBy>
  <cp:revision>69</cp:revision>
  <dcterms:created xsi:type="dcterms:W3CDTF">2013-02-27T13:56:58Z</dcterms:created>
  <dcterms:modified xsi:type="dcterms:W3CDTF">2020-04-22T14:25:54Z</dcterms:modified>
</cp:coreProperties>
</file>