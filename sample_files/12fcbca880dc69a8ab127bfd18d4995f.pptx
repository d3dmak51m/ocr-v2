
<file path=[Content_Types].xml><?xml version="1.0" encoding="utf-8"?>
<Types xmlns="http://schemas.openxmlformats.org/package/2006/content-types">
  <Default ContentType="image/png" Extension="png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theme+xml" PartName="/ppt/theme/theme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7" r:id="rId2"/>
    <p:sldId id="279" r:id="rId3"/>
    <p:sldId id="272" r:id="rId4"/>
    <p:sldId id="273" r:id="rId5"/>
    <p:sldId id="274" r:id="rId6"/>
    <p:sldId id="282" r:id="rId7"/>
    <p:sldId id="283" r:id="rId8"/>
    <p:sldId id="284" r:id="rId9"/>
    <p:sldId id="285" r:id="rId10"/>
    <p:sldId id="286" r:id="rId11"/>
    <p:sldId id="276" r:id="rId12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6699"/>
    <a:srgbClr val="4126A6"/>
    <a:srgbClr val="CC6600"/>
    <a:srgbClr val="660AC2"/>
    <a:srgbClr val="FFFFFF"/>
    <a:srgbClr val="E4F3FC"/>
    <a:srgbClr val="0099CC"/>
    <a:srgbClr val="B9E8FF"/>
    <a:srgbClr val="C1E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65" autoAdjust="0"/>
    <p:restoredTop sz="94660"/>
  </p:normalViewPr>
  <p:slideViewPr>
    <p:cSldViewPr>
      <p:cViewPr>
        <p:scale>
          <a:sx n="50" d="100"/>
          <a:sy n="50" d="100"/>
        </p:scale>
        <p:origin x="-2362" y="-8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2A0F2F-F245-43FE-AAD1-C7A49EA77F98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ADA75E-E190-4438-9B1F-32A92BB5D38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1936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ADA75E-E190-4438-9B1F-32A92BB5D38C}" type="slidenum">
              <a:rPr lang="ru-RU" smtClean="0"/>
              <a:pPr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ADA75E-E190-4438-9B1F-32A92BB5D38C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ADA75E-E190-4438-9B1F-32A92BB5D38C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ADA75E-E190-4438-9B1F-32A92BB5D38C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ADA75E-E190-4438-9B1F-32A92BB5D38C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ADA75E-E190-4438-9B1F-32A92BB5D38C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ADA75E-E190-4438-9B1F-32A92BB5D38C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4/12/2017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4/12/2017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4/12/2017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4/12/2017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4/12/2017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4/12/2017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4/12/2017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4/12/2017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4/12/2017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4/12/2017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4/12/2017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1EAFF"/>
            </a:gs>
            <a:gs pos="50000">
              <a:schemeClr val="bg1"/>
            </a:gs>
            <a:gs pos="100000">
              <a:srgbClr val="B9E8FF"/>
            </a:gs>
          </a:gsLst>
          <a:lin ang="189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F463A-BC7C-46EE-9F1E-7F377CCA4891}" type="datetimeFigureOut">
              <a:rPr lang="en-US" smtClean="0"/>
              <a:pPr/>
              <a:t>4/12/2017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 ?><Relationships xmlns="http://schemas.openxmlformats.org/package/2006/relationships"><Relationship Id="rId2" Target="../media/image5.jpe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5.xml.rels><?xml version="1.0" encoding="UTF-8" standalone="yes" ?><Relationships xmlns="http://schemas.openxmlformats.org/package/2006/relationships"><Relationship Id="rId3" Target="../media/image6.jpeg" Type="http://schemas.openxmlformats.org/officeDocument/2006/relationships/image"/><Relationship Id="rId2" Target="../notesSlides/notesSlide3.xml" Type="http://schemas.openxmlformats.org/officeDocument/2006/relationships/notesSlide"/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 ?><Relationships xmlns="http://schemas.openxmlformats.org/package/2006/relationships"><Relationship Id="rId3" Target="../media/image11.jpeg" Type="http://schemas.openxmlformats.org/officeDocument/2006/relationships/image"/><Relationship Id="rId2" Target="../media/image10.jpeg" Type="http://schemas.openxmlformats.org/officeDocument/2006/relationships/image"/><Relationship Id="rId1" Target="../slideLayouts/slideLayout2.xml" Type="http://schemas.openxmlformats.org/officeDocument/2006/relationships/slideLayout"/><Relationship Id="rId5" Target="../media/image13.jpe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 ?><Relationships xmlns="http://schemas.openxmlformats.org/package/2006/relationships"><Relationship Id="rId3" Target="../media/image16.jpeg" Type="http://schemas.openxmlformats.org/officeDocument/2006/relationships/image"/><Relationship Id="rId2" Target="../media/image15.jpeg" Type="http://schemas.openxmlformats.org/officeDocument/2006/relationships/image"/><Relationship Id="rId1" Target="../slideLayouts/slideLayout2.xml" Type="http://schemas.openxmlformats.org/officeDocument/2006/relationships/slideLayout"/><Relationship Id="rId6" Target="../media/image19.jpeg" Type="http://schemas.openxmlformats.org/officeDocument/2006/relationships/image"/><Relationship Id="rId5" Target="../media/image18.jpeg" Type="http://schemas.openxmlformats.org/officeDocument/2006/relationships/image"/><Relationship Id="rId4" Target="../media/image17.jpeg" Type="http://schemas.openxmlformats.org/officeDocument/2006/relationships/image"/></Relationships>
</file>

<file path=ppt/slides/_rels/slide11.xml.rels><?xml version="1.0" encoding="UTF-8" standalone="yes" ?><Relationships xmlns="http://schemas.openxmlformats.org/package/2006/relationships"><Relationship Id="rId8" Target="../media/image25.jpeg" Type="http://schemas.openxmlformats.org/officeDocument/2006/relationships/image"/><Relationship Id="rId3" Target="../media/image20.jpeg" Type="http://schemas.openxmlformats.org/officeDocument/2006/relationships/image"/><Relationship Id="rId7" Target="../media/image24.jpeg" Type="http://schemas.openxmlformats.org/officeDocument/2006/relationships/image"/><Relationship Id="rId2" Target="../notesSlides/notesSlide7.xml" Type="http://schemas.openxmlformats.org/officeDocument/2006/relationships/notesSlide"/><Relationship Id="rId1" Target="../slideLayouts/slideLayout2.xml" Type="http://schemas.openxmlformats.org/officeDocument/2006/relationships/slideLayout"/><Relationship Id="rId6" Target="../media/image23.jpeg" Type="http://schemas.openxmlformats.org/officeDocument/2006/relationships/image"/><Relationship Id="rId5" Target="../media/image22.jpeg" Type="http://schemas.openxmlformats.org/officeDocument/2006/relationships/image"/><Relationship Id="rId10" Target="../media/image27.jpeg" Type="http://schemas.openxmlformats.org/officeDocument/2006/relationships/image"/><Relationship Id="rId4" Target="../media/image21.jpeg" Type="http://schemas.openxmlformats.org/officeDocument/2006/relationships/image"/><Relationship Id="rId9" Target="../media/image26.jpeg" Type="http://schemas.openxmlformats.org/officeDocument/2006/relationships/imag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66800" y="2743200"/>
            <a:ext cx="7239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4126A6"/>
                </a:solidFill>
                <a:latin typeface="Times New Roman" pitchFamily="18" charset="0"/>
                <a:cs typeface="Times New Roman" pitchFamily="18" charset="0"/>
              </a:rPr>
              <a:t>1 класс</a:t>
            </a:r>
            <a:endParaRPr lang="ru-RU" sz="2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4126A6"/>
              </a:solidFill>
            </a:endParaRPr>
          </a:p>
        </p:txBody>
      </p:sp>
      <p:pic>
        <p:nvPicPr>
          <p:cNvPr id="8" name="Picture 2" descr="D:\Мои документы\Мама\Презентации по русскому языку\Азбука от А до Я\1.Алфавит\5.У\Читаем буква У\Рисунок121.png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533400" y="3505200"/>
            <a:ext cx="4922520" cy="2590800"/>
          </a:xfrm>
          <a:prstGeom prst="rect">
            <a:avLst/>
          </a:prstGeom>
          <a:noFill/>
        </p:spPr>
      </p:pic>
      <p:sp>
        <p:nvSpPr>
          <p:cNvPr id="9" name="Прямоугольник 8"/>
          <p:cNvSpPr/>
          <p:nvPr/>
        </p:nvSpPr>
        <p:spPr>
          <a:xfrm>
            <a:off x="1371600" y="685800"/>
            <a:ext cx="6553200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80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4126A6"/>
                </a:solidFill>
                <a:effectLst/>
                <a:latin typeface="Times New Roman" pitchFamily="18" charset="0"/>
                <a:cs typeface="Times New Roman" pitchFamily="18" charset="0"/>
              </a:rPr>
              <a:t>АЛФАВИТ</a:t>
            </a:r>
            <a:endParaRPr lang="ru-RU" sz="80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4126A6"/>
              </a:solidFill>
              <a:effectLst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410200" y="6019800"/>
            <a:ext cx="37338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600200" y="2209800"/>
            <a:ext cx="5943600" cy="138499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endParaRPr lang="ru-RU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Чем звук отличается от буквы?</a:t>
            </a:r>
          </a:p>
          <a:p>
            <a:pPr algn="ctr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600200" y="2209800"/>
            <a:ext cx="5943600" cy="138499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endParaRPr lang="ru-RU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Как отличить гласный звук от согласного? 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0" y="5029200"/>
            <a:ext cx="9144000" cy="2133600"/>
          </a:xfrm>
          <a:prstGeom prst="rect">
            <a:avLst/>
          </a:prstGeom>
          <a:noFill/>
          <a:ln w="57150" algn="in">
            <a:solidFill>
              <a:schemeClr val="hlink"/>
            </a:solidFill>
            <a:miter lim="800000"/>
            <a:headEnd/>
            <a:tailEnd/>
          </a:ln>
        </p:spPr>
      </p:pic>
      <p:sp>
        <p:nvSpPr>
          <p:cNvPr id="5" name="Прямоугольник 4"/>
          <p:cNvSpPr/>
          <p:nvPr/>
        </p:nvSpPr>
        <p:spPr>
          <a:xfrm>
            <a:off x="1600200" y="2209800"/>
            <a:ext cx="5943600" cy="138499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endParaRPr lang="ru-RU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Назовите буквы, обозначающие гласные звуки.  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600200" y="2209800"/>
            <a:ext cx="5943600" cy="138499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endParaRPr lang="ru-RU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Какие буквы могут обозначать два звука?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600200" y="2209800"/>
            <a:ext cx="5943600" cy="138499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endParaRPr lang="ru-RU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Какие буквы указывают на мягкость согласного? 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600200" y="2209800"/>
            <a:ext cx="5943600" cy="138499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endParaRPr lang="ru-RU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Какие буквы всегда обозначают мягкий звук? 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600200" y="2209800"/>
            <a:ext cx="5943600" cy="138499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endParaRPr lang="ru-RU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Какие буквы не обозначают звука?</a:t>
            </a:r>
          </a:p>
          <a:p>
            <a:pPr algn="ctr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905000" y="533400"/>
            <a:ext cx="554449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6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4126A6"/>
                </a:solidFill>
                <a:latin typeface="Times New Roman" pitchFamily="18" charset="0"/>
                <a:cs typeface="Times New Roman" pitchFamily="18" charset="0"/>
              </a:rPr>
              <a:t>ЛЕНТА БУКВ</a:t>
            </a:r>
            <a:endParaRPr lang="ru-RU" sz="60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4126A6"/>
              </a:solidFill>
            </a:endParaRPr>
          </a:p>
        </p:txBody>
      </p:sp>
      <p:pic>
        <p:nvPicPr>
          <p:cNvPr id="2" name="Picture 2" descr="E:\Рисунок1.png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304800" y="152400"/>
            <a:ext cx="1817687" cy="2770187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5" grpId="0" animBg="1"/>
      <p:bldP spid="8" grpId="0" animBg="1"/>
      <p:bldP spid="9" grpId="0" animBg="1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981200" y="3657600"/>
            <a:ext cx="69341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ru-RU" sz="32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- </a:t>
            </a:r>
            <a:r>
              <a:rPr lang="ru-RU" sz="28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последняя буква </a:t>
            </a:r>
            <a:r>
              <a:rPr lang="ru-RU" sz="2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в алфавите.</a:t>
            </a:r>
            <a:endParaRPr lang="ru-RU" sz="28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590800" y="457200"/>
            <a:ext cx="4096699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6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4126A6"/>
                </a:solidFill>
                <a:latin typeface="Times New Roman" pitchFamily="18" charset="0"/>
                <a:cs typeface="Times New Roman" pitchFamily="18" charset="0"/>
              </a:rPr>
              <a:t>АЛФАВИТ</a:t>
            </a:r>
            <a:endParaRPr lang="ru-RU" sz="60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4126A6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048000" y="5562600"/>
            <a:ext cx="3657600" cy="523220"/>
          </a:xfrm>
          <a:prstGeom prst="rect">
            <a:avLst/>
          </a:prstGeom>
          <a:solidFill>
            <a:schemeClr val="bg1"/>
          </a:solidFill>
          <a:ln w="38100">
            <a:solidFill>
              <a:srgbClr val="4126A6"/>
            </a:solidFill>
          </a:ln>
        </p:spPr>
        <p:txBody>
          <a:bodyPr wrap="square">
            <a:spAutoFit/>
          </a:bodyPr>
          <a:lstStyle/>
          <a:p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Почему так говорят? 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48000" y="5562600"/>
            <a:ext cx="3657600" cy="523220"/>
          </a:xfrm>
          <a:prstGeom prst="rect">
            <a:avLst/>
          </a:prstGeom>
          <a:solidFill>
            <a:schemeClr val="bg1"/>
          </a:solidFill>
          <a:ln w="38100">
            <a:solidFill>
              <a:srgbClr val="4126A6"/>
            </a:solidFill>
          </a:ln>
        </p:spPr>
        <p:txBody>
          <a:bodyPr wrap="square" rtlCol="0">
            <a:spAutoFit/>
          </a:bodyPr>
          <a:lstStyle/>
          <a:p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Что такое алфавит?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D:\Мои документы\Мама\Презентации по русскому языку\Алфавит\Работа в ней Алфавит\Рисунок1.png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228600" y="2286000"/>
            <a:ext cx="2525713" cy="2532063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762000" y="1447800"/>
            <a:ext cx="838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расположение букв в определённом порядке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100" decel="5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100" decel="5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10" grpId="0" animBg="1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590800" y="152400"/>
            <a:ext cx="4096699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6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4126A6"/>
                </a:solidFill>
                <a:latin typeface="Times New Roman" pitchFamily="18" charset="0"/>
                <a:cs typeface="Times New Roman" pitchFamily="18" charset="0"/>
              </a:rPr>
              <a:t>АЛФАВИТ</a:t>
            </a:r>
            <a:endParaRPr lang="ru-RU" sz="60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4126A6"/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981200" y="1371600"/>
            <a:ext cx="5410200" cy="5182972"/>
          </a:xfrm>
          <a:prstGeom prst="rect">
            <a:avLst/>
          </a:prstGeom>
          <a:noFill/>
          <a:ln w="34925">
            <a:solidFill>
              <a:srgbClr val="00B0F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228600" y="152400"/>
            <a:ext cx="12192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Document"/>
          <p:cNvSpPr>
            <a:spLocks noEditPoints="1" noChangeArrowheads="1"/>
          </p:cNvSpPr>
          <p:nvPr/>
        </p:nvSpPr>
        <p:spPr bwMode="auto">
          <a:xfrm>
            <a:off x="457200" y="2057400"/>
            <a:ext cx="3886200" cy="4572000"/>
          </a:xfrm>
          <a:custGeom>
            <a:avLst/>
            <a:gdLst>
              <a:gd name="T0" fmla="*/ 10757 w 21600"/>
              <a:gd name="T1" fmla="*/ 21632 h 21600"/>
              <a:gd name="T2" fmla="*/ 85 w 21600"/>
              <a:gd name="T3" fmla="*/ 10849 h 21600"/>
              <a:gd name="T4" fmla="*/ 10757 w 21600"/>
              <a:gd name="T5" fmla="*/ 81 h 21600"/>
              <a:gd name="T6" fmla="*/ 21706 w 21600"/>
              <a:gd name="T7" fmla="*/ 10652 h 21600"/>
              <a:gd name="T8" fmla="*/ 10757 w 21600"/>
              <a:gd name="T9" fmla="*/ 21632 h 21600"/>
              <a:gd name="T10" fmla="*/ 0 w 21600"/>
              <a:gd name="T11" fmla="*/ 0 h 21600"/>
              <a:gd name="T12" fmla="*/ 21600 w 21600"/>
              <a:gd name="T13" fmla="*/ 0 h 21600"/>
              <a:gd name="T14" fmla="*/ 21600 w 21600"/>
              <a:gd name="T15" fmla="*/ 21600 h 21600"/>
              <a:gd name="T16" fmla="*/ 977 w 21600"/>
              <a:gd name="T17" fmla="*/ 818 h 21600"/>
              <a:gd name="T18" fmla="*/ 20622 w 21600"/>
              <a:gd name="T19" fmla="*/ 1642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0757" y="21632"/>
                </a:moveTo>
                <a:lnTo>
                  <a:pt x="5187" y="21632"/>
                </a:lnTo>
                <a:lnTo>
                  <a:pt x="85" y="17509"/>
                </a:lnTo>
                <a:lnTo>
                  <a:pt x="85" y="10849"/>
                </a:lnTo>
                <a:lnTo>
                  <a:pt x="85" y="81"/>
                </a:lnTo>
                <a:lnTo>
                  <a:pt x="10757" y="81"/>
                </a:lnTo>
                <a:lnTo>
                  <a:pt x="21706" y="81"/>
                </a:lnTo>
                <a:lnTo>
                  <a:pt x="21706" y="10652"/>
                </a:lnTo>
                <a:lnTo>
                  <a:pt x="21706" y="21632"/>
                </a:lnTo>
                <a:lnTo>
                  <a:pt x="10757" y="21632"/>
                </a:lnTo>
                <a:close/>
              </a:path>
              <a:path w="21600" h="21600">
                <a:moveTo>
                  <a:pt x="85" y="17509"/>
                </a:moveTo>
                <a:lnTo>
                  <a:pt x="5187" y="17509"/>
                </a:lnTo>
                <a:lnTo>
                  <a:pt x="5187" y="21632"/>
                </a:lnTo>
                <a:lnTo>
                  <a:pt x="85" y="17509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6699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>
              <a:defRPr/>
            </a:pP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Слово </a:t>
            </a:r>
            <a:r>
              <a:rPr lang="ru-RU" sz="2400" b="1" i="1" u="sng" dirty="0">
                <a:latin typeface="Times New Roman" pitchFamily="18" charset="0"/>
                <a:cs typeface="Times New Roman" pitchFamily="18" charset="0"/>
              </a:rPr>
              <a:t>АЗБУКА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 появилось тысячу лет назад из названий двух первых русских букв. Буква А называлась тогда </a:t>
            </a:r>
            <a:r>
              <a:rPr lang="ru-RU" sz="2400" b="1" i="1" u="sng" dirty="0">
                <a:latin typeface="Times New Roman" pitchFamily="18" charset="0"/>
                <a:cs typeface="Times New Roman" pitchFamily="18" charset="0"/>
              </a:rPr>
              <a:t>АЗ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, а буква Б- </a:t>
            </a:r>
            <a:r>
              <a:rPr lang="ru-RU" sz="2400" b="1" i="1" u="sng" dirty="0">
                <a:latin typeface="Times New Roman" pitchFamily="18" charset="0"/>
                <a:cs typeface="Times New Roman" pitchFamily="18" charset="0"/>
              </a:rPr>
              <a:t>БУКИ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. Из этих названий- </a:t>
            </a:r>
            <a:r>
              <a:rPr lang="ru-RU" sz="2400" b="1" i="1" u="sng" dirty="0">
                <a:latin typeface="Times New Roman" pitchFamily="18" charset="0"/>
                <a:cs typeface="Times New Roman" pitchFamily="18" charset="0"/>
              </a:rPr>
              <a:t>АЗ 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sz="2400" b="1" i="1" u="sng" dirty="0">
                <a:latin typeface="Times New Roman" pitchFamily="18" charset="0"/>
                <a:cs typeface="Times New Roman" pitchFamily="18" charset="0"/>
              </a:rPr>
              <a:t>БУКИ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- и получилось русское 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      слово   </a:t>
            </a:r>
            <a:r>
              <a:rPr lang="ru-RU" sz="2400" b="1" i="1" u="sng" dirty="0" smtClean="0">
                <a:latin typeface="Times New Roman" pitchFamily="18" charset="0"/>
                <a:cs typeface="Times New Roman" pitchFamily="18" charset="0"/>
              </a:rPr>
              <a:t>АЗБУКА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7" name="Document"/>
          <p:cNvSpPr>
            <a:spLocks noEditPoints="1" noChangeArrowheads="1"/>
          </p:cNvSpPr>
          <p:nvPr/>
        </p:nvSpPr>
        <p:spPr bwMode="auto">
          <a:xfrm>
            <a:off x="4800600" y="2057400"/>
            <a:ext cx="3886200" cy="4648200"/>
          </a:xfrm>
          <a:custGeom>
            <a:avLst/>
            <a:gdLst>
              <a:gd name="T0" fmla="*/ 10757 w 21600"/>
              <a:gd name="T1" fmla="*/ 21632 h 21600"/>
              <a:gd name="T2" fmla="*/ 85 w 21600"/>
              <a:gd name="T3" fmla="*/ 10849 h 21600"/>
              <a:gd name="T4" fmla="*/ 10757 w 21600"/>
              <a:gd name="T5" fmla="*/ 81 h 21600"/>
              <a:gd name="T6" fmla="*/ 21706 w 21600"/>
              <a:gd name="T7" fmla="*/ 10652 h 21600"/>
              <a:gd name="T8" fmla="*/ 10757 w 21600"/>
              <a:gd name="T9" fmla="*/ 21632 h 21600"/>
              <a:gd name="T10" fmla="*/ 0 w 21600"/>
              <a:gd name="T11" fmla="*/ 0 h 21600"/>
              <a:gd name="T12" fmla="*/ 21600 w 21600"/>
              <a:gd name="T13" fmla="*/ 0 h 21600"/>
              <a:gd name="T14" fmla="*/ 21600 w 21600"/>
              <a:gd name="T15" fmla="*/ 21600 h 21600"/>
              <a:gd name="T16" fmla="*/ 977 w 21600"/>
              <a:gd name="T17" fmla="*/ 818 h 21600"/>
              <a:gd name="T18" fmla="*/ 20622 w 21600"/>
              <a:gd name="T19" fmla="*/ 1642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0757" y="21632"/>
                </a:moveTo>
                <a:lnTo>
                  <a:pt x="5187" y="21632"/>
                </a:lnTo>
                <a:lnTo>
                  <a:pt x="85" y="17509"/>
                </a:lnTo>
                <a:lnTo>
                  <a:pt x="85" y="10849"/>
                </a:lnTo>
                <a:lnTo>
                  <a:pt x="85" y="81"/>
                </a:lnTo>
                <a:lnTo>
                  <a:pt x="10757" y="81"/>
                </a:lnTo>
                <a:lnTo>
                  <a:pt x="21706" y="81"/>
                </a:lnTo>
                <a:lnTo>
                  <a:pt x="21706" y="10652"/>
                </a:lnTo>
                <a:lnTo>
                  <a:pt x="21706" y="21632"/>
                </a:lnTo>
                <a:lnTo>
                  <a:pt x="10757" y="21632"/>
                </a:lnTo>
                <a:close/>
              </a:path>
              <a:path w="21600" h="21600">
                <a:moveTo>
                  <a:pt x="85" y="17509"/>
                </a:moveTo>
                <a:lnTo>
                  <a:pt x="5187" y="17509"/>
                </a:lnTo>
                <a:lnTo>
                  <a:pt x="5187" y="21632"/>
                </a:lnTo>
                <a:lnTo>
                  <a:pt x="85" y="17509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6699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>
              <a:defRPr/>
            </a:pPr>
            <a:r>
              <a:rPr lang="ru-RU" sz="2400" b="1" i="1" dirty="0">
                <a:solidFill>
                  <a:srgbClr val="CC6600"/>
                </a:solidFill>
                <a:latin typeface="Times New Roman" pitchFamily="18" charset="0"/>
                <a:cs typeface="Times New Roman" pitchFamily="18" charset="0"/>
              </a:rPr>
              <a:t>Слово </a:t>
            </a:r>
            <a:r>
              <a:rPr lang="ru-RU" sz="2400" b="1" i="1" u="sng" dirty="0">
                <a:solidFill>
                  <a:srgbClr val="CC6600"/>
                </a:solidFill>
                <a:latin typeface="Times New Roman" pitchFamily="18" charset="0"/>
                <a:cs typeface="Times New Roman" pitchFamily="18" charset="0"/>
              </a:rPr>
              <a:t>АЛФАВИТ</a:t>
            </a:r>
            <a:r>
              <a:rPr lang="ru-RU" sz="2400" b="1" i="1" dirty="0">
                <a:solidFill>
                  <a:srgbClr val="CC6600"/>
                </a:solidFill>
                <a:latin typeface="Times New Roman" pitchFamily="18" charset="0"/>
                <a:cs typeface="Times New Roman" pitchFamily="18" charset="0"/>
              </a:rPr>
              <a:t> пришло к нам из греческого языка. В греческом языке первая буква называлась </a:t>
            </a:r>
            <a:r>
              <a:rPr lang="ru-RU" sz="2400" b="1" i="1" u="sng" dirty="0">
                <a:solidFill>
                  <a:srgbClr val="CC6600"/>
                </a:solidFill>
                <a:latin typeface="Times New Roman" pitchFamily="18" charset="0"/>
                <a:cs typeface="Times New Roman" pitchFamily="18" charset="0"/>
              </a:rPr>
              <a:t>АЛЬФА</a:t>
            </a:r>
            <a:r>
              <a:rPr lang="ru-RU" sz="2400" b="1" i="1" dirty="0">
                <a:solidFill>
                  <a:srgbClr val="CC6600"/>
                </a:solidFill>
                <a:latin typeface="Times New Roman" pitchFamily="18" charset="0"/>
                <a:cs typeface="Times New Roman" pitchFamily="18" charset="0"/>
              </a:rPr>
              <a:t>, а вторая –</a:t>
            </a:r>
            <a:r>
              <a:rPr lang="ru-RU" sz="2400" b="1" i="1" u="sng" dirty="0">
                <a:solidFill>
                  <a:srgbClr val="CC6600"/>
                </a:solidFill>
                <a:latin typeface="Times New Roman" pitchFamily="18" charset="0"/>
                <a:cs typeface="Times New Roman" pitchFamily="18" charset="0"/>
              </a:rPr>
              <a:t>ВИТА</a:t>
            </a:r>
            <a:r>
              <a:rPr lang="ru-RU" sz="2400" b="1" i="1" dirty="0">
                <a:solidFill>
                  <a:srgbClr val="CC6600"/>
                </a:solidFill>
                <a:latin typeface="Times New Roman" pitchFamily="18" charset="0"/>
                <a:cs typeface="Times New Roman" pitchFamily="18" charset="0"/>
              </a:rPr>
              <a:t>, из этих двух названий получилось слово </a:t>
            </a:r>
            <a:r>
              <a:rPr lang="ru-RU" sz="2400" b="1" i="1" dirty="0" smtClean="0">
                <a:solidFill>
                  <a:srgbClr val="CC6600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ru-RU" sz="2400" b="1" i="1" u="sng" dirty="0" smtClean="0">
                <a:solidFill>
                  <a:srgbClr val="CC6600"/>
                </a:solidFill>
                <a:latin typeface="Times New Roman" pitchFamily="18" charset="0"/>
                <a:cs typeface="Times New Roman" pitchFamily="18" charset="0"/>
              </a:rPr>
              <a:t>АЛФАВИТ</a:t>
            </a:r>
            <a:r>
              <a:rPr lang="ru-RU" sz="2400" b="1" i="1" u="sng" dirty="0">
                <a:solidFill>
                  <a:srgbClr val="CC66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8" name="Горизонтальный свиток 7"/>
          <p:cNvSpPr/>
          <p:nvPr/>
        </p:nvSpPr>
        <p:spPr>
          <a:xfrm>
            <a:off x="2133600" y="152400"/>
            <a:ext cx="6096000" cy="1295400"/>
          </a:xfrm>
          <a:prstGeom prst="horizontalScroll">
            <a:avLst/>
          </a:prstGeom>
          <a:solidFill>
            <a:schemeClr val="bg1"/>
          </a:solidFill>
          <a:ln w="38100">
            <a:solidFill>
              <a:srgbClr val="412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3200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Из толкового словаря</a:t>
            </a:r>
            <a:endParaRPr lang="ru-RU" sz="3200" b="1" i="1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295400" y="304800"/>
            <a:ext cx="6302623" cy="646331"/>
          </a:xfrm>
          <a:prstGeom prst="rect">
            <a:avLst/>
          </a:prstGeom>
          <a:solidFill>
            <a:schemeClr val="bg1"/>
          </a:solidFill>
          <a:ln w="38100">
            <a:solidFill>
              <a:srgbClr val="0033CC"/>
            </a:solidFill>
          </a:ln>
        </p:spPr>
        <p:txBody>
          <a:bodyPr wrap="none">
            <a:spAutoFit/>
          </a:bodyPr>
          <a:lstStyle/>
          <a:p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Вставь пропущенные буквы:</a:t>
            </a:r>
            <a:endParaRPr lang="ru-R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81000" y="1219200"/>
            <a:ext cx="7848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20000"/>
              <a:defRPr/>
            </a:pPr>
            <a:r>
              <a:rPr lang="ru-RU" sz="6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 а  б  </a:t>
            </a:r>
            <a:r>
              <a:rPr lang="ru-RU" sz="6000" u="sng" dirty="0" smtClean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в</a:t>
            </a:r>
            <a:r>
              <a:rPr lang="ru-RU" sz="6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 г  </a:t>
            </a:r>
            <a:r>
              <a:rPr lang="ru-RU" sz="600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д</a:t>
            </a:r>
            <a:r>
              <a:rPr lang="ru-RU" sz="6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 е  </a:t>
            </a:r>
            <a:r>
              <a:rPr lang="ru-RU" sz="6000" u="sng" dirty="0" err="1" smtClean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ё</a:t>
            </a:r>
            <a:r>
              <a:rPr lang="ru-RU" sz="6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 ж  </a:t>
            </a:r>
            <a:r>
              <a:rPr lang="ru-RU" sz="600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з</a:t>
            </a:r>
            <a:r>
              <a:rPr lang="ru-RU" sz="6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 и </a:t>
            </a:r>
            <a:r>
              <a:rPr lang="ru-RU" sz="600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й</a:t>
            </a:r>
            <a:r>
              <a:rPr lang="ru-RU" sz="6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6000" u="sng" dirty="0" smtClean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к </a:t>
            </a:r>
            <a:r>
              <a:rPr lang="ru-RU" sz="6000" dirty="0" smtClean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6000" u="sng" dirty="0" smtClean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л</a:t>
            </a:r>
            <a:r>
              <a:rPr lang="ru-RU" sz="6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 м  </a:t>
            </a:r>
            <a:r>
              <a:rPr lang="ru-RU" sz="600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н</a:t>
            </a:r>
            <a:r>
              <a:rPr lang="ru-RU" sz="6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 о  </a:t>
            </a:r>
            <a:r>
              <a:rPr lang="ru-RU" sz="6000" u="sng" dirty="0" err="1" smtClean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п</a:t>
            </a:r>
            <a:r>
              <a:rPr lang="ru-RU" sz="6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600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р</a:t>
            </a:r>
            <a:r>
              <a:rPr lang="ru-RU" sz="6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 с  </a:t>
            </a:r>
            <a:r>
              <a:rPr lang="ru-RU" sz="6000" u="sng" dirty="0" smtClean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т</a:t>
            </a:r>
            <a:r>
              <a:rPr lang="ru-RU" sz="6000" dirty="0" smtClean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6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у  </a:t>
            </a:r>
            <a:r>
              <a:rPr lang="ru-RU" sz="6000" u="sng" dirty="0" err="1" smtClean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ф</a:t>
            </a:r>
            <a:r>
              <a:rPr lang="ru-RU" sz="6000" dirty="0" smtClean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600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sz="6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600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ц</a:t>
            </a:r>
            <a:r>
              <a:rPr lang="ru-RU" sz="6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ч  </a:t>
            </a:r>
            <a:r>
              <a:rPr lang="ru-RU" sz="6000" u="sng" dirty="0" err="1" smtClean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ш</a:t>
            </a:r>
            <a:r>
              <a:rPr lang="ru-RU" sz="6000" u="sng" dirty="0" smtClean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6000" dirty="0" smtClean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600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щ</a:t>
            </a:r>
            <a:r>
              <a:rPr lang="ru-RU" sz="6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600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ъ</a:t>
            </a:r>
            <a:r>
              <a:rPr lang="ru-RU" sz="6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6000" u="sng" dirty="0" err="1" smtClean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ы</a:t>
            </a:r>
            <a:r>
              <a:rPr lang="ru-RU" sz="6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600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ь</a:t>
            </a:r>
            <a:r>
              <a:rPr lang="ru-RU" sz="6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 э  </a:t>
            </a:r>
            <a:r>
              <a:rPr lang="ru-RU" sz="6000" u="sng" dirty="0" err="1" smtClean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ю</a:t>
            </a:r>
            <a:r>
              <a:rPr lang="ru-RU" sz="6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 я</a:t>
            </a:r>
            <a:endParaRPr lang="ru-RU" sz="600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 descr="E:\Рисунок3.png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6248400" y="5381625"/>
            <a:ext cx="2647950" cy="1476375"/>
          </a:xfrm>
          <a:prstGeom prst="rect">
            <a:avLst/>
          </a:prstGeom>
          <a:noFill/>
        </p:spPr>
      </p:pic>
      <p:pic>
        <p:nvPicPr>
          <p:cNvPr id="2051" name="Picture 3" descr="E:\Рисунок2.png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2286000" y="2209800"/>
            <a:ext cx="944562" cy="954087"/>
          </a:xfrm>
          <a:prstGeom prst="rect">
            <a:avLst/>
          </a:prstGeom>
          <a:noFill/>
        </p:spPr>
      </p:pic>
      <p:pic>
        <p:nvPicPr>
          <p:cNvPr id="8" name="Picture 3" descr="E:\Рисунок2.png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5486400" y="2209800"/>
            <a:ext cx="944562" cy="954087"/>
          </a:xfrm>
          <a:prstGeom prst="rect">
            <a:avLst/>
          </a:prstGeom>
          <a:noFill/>
        </p:spPr>
      </p:pic>
      <p:pic>
        <p:nvPicPr>
          <p:cNvPr id="9" name="Picture 3" descr="E:\Рисунок2.png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7620000" y="2209800"/>
            <a:ext cx="944562" cy="954087"/>
          </a:xfrm>
          <a:prstGeom prst="rect">
            <a:avLst/>
          </a:prstGeom>
          <a:noFill/>
        </p:spPr>
      </p:pic>
      <p:pic>
        <p:nvPicPr>
          <p:cNvPr id="10" name="Picture 3" descr="E:\Рисунок2.png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5105400" y="1219200"/>
            <a:ext cx="944562" cy="954087"/>
          </a:xfrm>
          <a:prstGeom prst="rect">
            <a:avLst/>
          </a:prstGeom>
          <a:noFill/>
        </p:spPr>
      </p:pic>
      <p:pic>
        <p:nvPicPr>
          <p:cNvPr id="11" name="Picture 3" descr="E:\Рисунок2.png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2209800" y="1295400"/>
            <a:ext cx="944562" cy="954087"/>
          </a:xfrm>
          <a:prstGeom prst="rect">
            <a:avLst/>
          </a:prstGeom>
          <a:noFill/>
        </p:spPr>
      </p:pic>
      <p:pic>
        <p:nvPicPr>
          <p:cNvPr id="12" name="Picture 3" descr="E:\Рисунок2.png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1524000" y="3124200"/>
            <a:ext cx="944562" cy="954087"/>
          </a:xfrm>
          <a:prstGeom prst="rect">
            <a:avLst/>
          </a:prstGeom>
          <a:noFill/>
        </p:spPr>
      </p:pic>
      <p:pic>
        <p:nvPicPr>
          <p:cNvPr id="13" name="Picture 3" descr="E:\Рисунок2.png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2209800" y="4038600"/>
            <a:ext cx="944562" cy="954087"/>
          </a:xfrm>
          <a:prstGeom prst="rect">
            <a:avLst/>
          </a:prstGeom>
          <a:noFill/>
        </p:spPr>
      </p:pic>
      <p:pic>
        <p:nvPicPr>
          <p:cNvPr id="14" name="Picture 3" descr="E:\Рисунок2.png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4648200" y="3048000"/>
            <a:ext cx="944562" cy="954087"/>
          </a:xfrm>
          <a:prstGeom prst="rect">
            <a:avLst/>
          </a:prstGeom>
          <a:noFill/>
        </p:spPr>
      </p:pic>
      <p:pic>
        <p:nvPicPr>
          <p:cNvPr id="15" name="Picture 3" descr="E:\Рисунок2.png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7239000" y="3124200"/>
            <a:ext cx="944562" cy="954087"/>
          </a:xfrm>
          <a:prstGeom prst="rect">
            <a:avLst/>
          </a:prstGeom>
          <a:noFill/>
        </p:spPr>
      </p:pic>
      <p:pic>
        <p:nvPicPr>
          <p:cNvPr id="16" name="Picture 3" descr="E:\Рисунок2.png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1524000" y="2209800"/>
            <a:ext cx="944562" cy="954087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33333E-6 L 0.5401 0.5638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000" y="28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7 -0.025 L 0.2401 0.5861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00" y="30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1 -0.025 L 0.63021 0.4388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700" y="23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6 0.01944 L 0.53021 0.4833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600" y="23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33333E-6 L 0.19011 0.46389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00" y="23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02657 0.475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0" y="23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0 L 0.6651 0.34167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200" y="17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11111E-6 L 0.2151 0.3416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00" y="17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0.33333  E" pathEditMode="relative" ptsTypes="">
                                      <p:cBhvr>
                                        <p:cTn id="3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33333E-6 L 0.6151 0.20834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700" y="10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381000"/>
            <a:ext cx="9144000" cy="584775"/>
          </a:xfrm>
          <a:prstGeom prst="rect">
            <a:avLst/>
          </a:prstGeom>
          <a:solidFill>
            <a:schemeClr val="bg1"/>
          </a:solidFill>
          <a:ln w="38100">
            <a:solidFill>
              <a:srgbClr val="0033CC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Запишите в алфавитном порядке имена детей: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28600" y="1524000"/>
            <a:ext cx="7086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Виктор, Яков, Геннадий, Анна, Людмила,  Надежда, Дарья, Борис, Ирина, </a:t>
            </a:r>
            <a:r>
              <a:rPr lang="ru-RU" sz="3200" b="1" dirty="0" err="1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Ульяна</a:t>
            </a:r>
            <a:r>
              <a:rPr lang="ru-RU" sz="32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, Сергей.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28600" y="5257800"/>
            <a:ext cx="1828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err="1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Ульяна</a:t>
            </a:r>
            <a:r>
              <a:rPr lang="ru-RU" sz="32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09600" y="3886200"/>
            <a:ext cx="12634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Анна,</a:t>
            </a:r>
            <a:endParaRPr lang="ru-RU" sz="3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828800" y="3886200"/>
            <a:ext cx="141096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Борис,</a:t>
            </a:r>
            <a:endParaRPr lang="ru-RU" sz="32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3200400" y="3886200"/>
            <a:ext cx="17678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Виктор, </a:t>
            </a:r>
            <a:endParaRPr lang="ru-RU" sz="32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800600" y="3886200"/>
            <a:ext cx="21651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Геннадий, </a:t>
            </a:r>
            <a:endParaRPr lang="ru-RU" sz="32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6858000" y="3886200"/>
            <a:ext cx="14414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Дарья,</a:t>
            </a:r>
            <a:endParaRPr lang="ru-RU" sz="32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228600" y="4648200"/>
            <a:ext cx="16161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Ирина, </a:t>
            </a:r>
            <a:endParaRPr lang="ru-RU" sz="320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1752600" y="4648200"/>
            <a:ext cx="21473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Людмила, </a:t>
            </a:r>
            <a:endParaRPr lang="ru-RU" sz="3200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3733800" y="4648200"/>
            <a:ext cx="201689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Надежда, </a:t>
            </a:r>
            <a:endParaRPr lang="ru-RU" sz="3200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5638800" y="4648200"/>
            <a:ext cx="17023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Сергей, </a:t>
            </a:r>
            <a:endParaRPr lang="ru-RU" sz="3200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1981200" y="5257800"/>
            <a:ext cx="12318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Яков.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 descr="E:\Рисунок4.png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086600" y="1066800"/>
            <a:ext cx="1903412" cy="203200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11"/>
          <p:cNvSpPr>
            <a:spLocks noChangeArrowheads="1"/>
          </p:cNvSpPr>
          <p:nvPr/>
        </p:nvSpPr>
        <p:spPr bwMode="gray">
          <a:xfrm>
            <a:off x="4648200" y="1371600"/>
            <a:ext cx="2160587" cy="2160588"/>
          </a:xfrm>
          <a:prstGeom prst="ellipse">
            <a:avLst/>
          </a:prstGeom>
          <a:gradFill rotWithShape="1">
            <a:gsLst>
              <a:gs pos="0">
                <a:srgbClr val="0033CC">
                  <a:alpha val="31765"/>
                </a:srgbClr>
              </a:gs>
              <a:gs pos="100000">
                <a:schemeClr val="folHlink">
                  <a:gamma/>
                  <a:shade val="0"/>
                  <a:invGamma/>
                  <a:alpha val="89999"/>
                </a:schemeClr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55" name="Oval 11"/>
          <p:cNvSpPr>
            <a:spLocks noChangeArrowheads="1"/>
          </p:cNvSpPr>
          <p:nvPr/>
        </p:nvSpPr>
        <p:spPr bwMode="gray">
          <a:xfrm>
            <a:off x="2286000" y="1295400"/>
            <a:ext cx="2160587" cy="2160588"/>
          </a:xfrm>
          <a:prstGeom prst="ellipse">
            <a:avLst/>
          </a:prstGeom>
          <a:gradFill rotWithShape="1">
            <a:gsLst>
              <a:gs pos="0">
                <a:srgbClr val="0033CC">
                  <a:alpha val="31765"/>
                </a:srgbClr>
              </a:gs>
              <a:gs pos="100000">
                <a:schemeClr val="folHlink">
                  <a:gamma/>
                  <a:shade val="0"/>
                  <a:invGamma/>
                  <a:alpha val="89999"/>
                </a:schemeClr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2514600" y="1524000"/>
            <a:ext cx="1636712" cy="1636713"/>
            <a:chOff x="4166" y="1706"/>
            <a:chExt cx="1252" cy="1252"/>
          </a:xfrm>
        </p:grpSpPr>
        <p:sp>
          <p:nvSpPr>
            <p:cNvPr id="10268" name="Oval 16"/>
            <p:cNvSpPr>
              <a:spLocks noChangeArrowheads="1"/>
            </p:cNvSpPr>
            <p:nvPr/>
          </p:nvSpPr>
          <p:spPr bwMode="gray">
            <a:xfrm>
              <a:off x="4166" y="1706"/>
              <a:ext cx="1252" cy="1252"/>
            </a:xfrm>
            <a:prstGeom prst="ellipse">
              <a:avLst/>
            </a:prstGeom>
            <a:gradFill rotWithShape="1">
              <a:gsLst>
                <a:gs pos="0">
                  <a:srgbClr val="636869"/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</p:spPr>
          <p:txBody>
            <a:bodyPr vert="eaVert" wrap="none" anchor="ctr"/>
            <a:lstStyle/>
            <a:p>
              <a:endParaRPr lang="ru-RU"/>
            </a:p>
          </p:txBody>
        </p:sp>
        <p:sp>
          <p:nvSpPr>
            <p:cNvPr id="10269" name="Oval 17"/>
            <p:cNvSpPr>
              <a:spLocks noChangeArrowheads="1"/>
            </p:cNvSpPr>
            <p:nvPr/>
          </p:nvSpPr>
          <p:spPr bwMode="gray">
            <a:xfrm>
              <a:off x="4182" y="1713"/>
              <a:ext cx="1222" cy="122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F1F5F5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</p:spPr>
          <p:txBody>
            <a:bodyPr vert="eaVert" wrap="none" anchor="ctr"/>
            <a:lstStyle/>
            <a:p>
              <a:endParaRPr lang="ru-RU"/>
            </a:p>
          </p:txBody>
        </p:sp>
        <p:sp>
          <p:nvSpPr>
            <p:cNvPr id="10270" name="Oval 18"/>
            <p:cNvSpPr>
              <a:spLocks noChangeArrowheads="1"/>
            </p:cNvSpPr>
            <p:nvPr/>
          </p:nvSpPr>
          <p:spPr bwMode="gray">
            <a:xfrm>
              <a:off x="4195" y="1725"/>
              <a:ext cx="1162" cy="1141"/>
            </a:xfrm>
            <a:prstGeom prst="ellipse">
              <a:avLst/>
            </a:prstGeom>
            <a:gradFill rotWithShape="1">
              <a:gsLst>
                <a:gs pos="0">
                  <a:srgbClr val="AAB2B3"/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</p:spPr>
          <p:txBody>
            <a:bodyPr vert="eaVert" wrap="none" anchor="ctr"/>
            <a:lstStyle/>
            <a:p>
              <a:endParaRPr lang="ru-RU"/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4876800" y="1600200"/>
            <a:ext cx="1636712" cy="1636713"/>
            <a:chOff x="4166" y="1706"/>
            <a:chExt cx="1252" cy="1252"/>
          </a:xfrm>
        </p:grpSpPr>
        <p:sp>
          <p:nvSpPr>
            <p:cNvPr id="10264" name="Oval 16"/>
            <p:cNvSpPr>
              <a:spLocks noChangeArrowheads="1"/>
            </p:cNvSpPr>
            <p:nvPr/>
          </p:nvSpPr>
          <p:spPr bwMode="gray">
            <a:xfrm>
              <a:off x="4166" y="1706"/>
              <a:ext cx="1252" cy="1252"/>
            </a:xfrm>
            <a:prstGeom prst="ellipse">
              <a:avLst/>
            </a:prstGeom>
            <a:gradFill rotWithShape="1">
              <a:gsLst>
                <a:gs pos="0">
                  <a:srgbClr val="636869"/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</p:spPr>
          <p:txBody>
            <a:bodyPr vert="eaVert" wrap="none" anchor="ctr"/>
            <a:lstStyle/>
            <a:p>
              <a:endParaRPr lang="ru-RU"/>
            </a:p>
          </p:txBody>
        </p:sp>
        <p:sp>
          <p:nvSpPr>
            <p:cNvPr id="10265" name="Oval 17"/>
            <p:cNvSpPr>
              <a:spLocks noChangeArrowheads="1"/>
            </p:cNvSpPr>
            <p:nvPr/>
          </p:nvSpPr>
          <p:spPr bwMode="gray">
            <a:xfrm>
              <a:off x="4182" y="1713"/>
              <a:ext cx="1222" cy="122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F1F5F5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</p:spPr>
          <p:txBody>
            <a:bodyPr vert="eaVert" wrap="none" anchor="ctr"/>
            <a:lstStyle/>
            <a:p>
              <a:endParaRPr lang="ru-RU"/>
            </a:p>
          </p:txBody>
        </p:sp>
        <p:sp>
          <p:nvSpPr>
            <p:cNvPr id="10266" name="Oval 18"/>
            <p:cNvSpPr>
              <a:spLocks noChangeArrowheads="1"/>
            </p:cNvSpPr>
            <p:nvPr/>
          </p:nvSpPr>
          <p:spPr bwMode="gray">
            <a:xfrm>
              <a:off x="4195" y="1725"/>
              <a:ext cx="1162" cy="1141"/>
            </a:xfrm>
            <a:prstGeom prst="ellipse">
              <a:avLst/>
            </a:prstGeom>
            <a:gradFill rotWithShape="1">
              <a:gsLst>
                <a:gs pos="0">
                  <a:srgbClr val="AAB2B3"/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</p:spPr>
          <p:txBody>
            <a:bodyPr vert="eaVert" wrap="none" anchor="ctr"/>
            <a:lstStyle/>
            <a:p>
              <a:endParaRPr lang="ru-RU"/>
            </a:p>
          </p:txBody>
        </p:sp>
      </p:grpSp>
      <p:sp>
        <p:nvSpPr>
          <p:cNvPr id="37" name="Text Box 17"/>
          <p:cNvSpPr txBox="1">
            <a:spLocks noChangeArrowheads="1"/>
          </p:cNvSpPr>
          <p:nvPr/>
        </p:nvSpPr>
        <p:spPr bwMode="gray">
          <a:xfrm>
            <a:off x="228600" y="228600"/>
            <a:ext cx="8694515" cy="954107"/>
          </a:xfrm>
          <a:prstGeom prst="rect">
            <a:avLst/>
          </a:prstGeom>
          <a:solidFill>
            <a:schemeClr val="bg1"/>
          </a:solidFill>
          <a:ln w="38100">
            <a:solidFill>
              <a:srgbClr val="4126A6"/>
            </a:solidFill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ru-RU" sz="28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Расположи времена года в алфавитном порядке: зима, весна, лето, осень. 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11"/>
          <p:cNvSpPr>
            <a:spLocks noChangeArrowheads="1"/>
          </p:cNvSpPr>
          <p:nvPr/>
        </p:nvSpPr>
        <p:spPr bwMode="gray">
          <a:xfrm>
            <a:off x="6983413" y="1371600"/>
            <a:ext cx="2160587" cy="2160588"/>
          </a:xfrm>
          <a:prstGeom prst="ellipse">
            <a:avLst/>
          </a:prstGeom>
          <a:gradFill rotWithShape="1">
            <a:gsLst>
              <a:gs pos="0">
                <a:srgbClr val="0033CC">
                  <a:alpha val="31765"/>
                </a:srgbClr>
              </a:gs>
              <a:gs pos="100000">
                <a:schemeClr val="folHlink">
                  <a:gamma/>
                  <a:shade val="0"/>
                  <a:invGamma/>
                  <a:alpha val="89999"/>
                </a:schemeClr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38" name="Oval 11"/>
          <p:cNvSpPr>
            <a:spLocks noChangeArrowheads="1"/>
          </p:cNvSpPr>
          <p:nvPr/>
        </p:nvSpPr>
        <p:spPr bwMode="gray">
          <a:xfrm>
            <a:off x="0" y="1295400"/>
            <a:ext cx="2160587" cy="2160588"/>
          </a:xfrm>
          <a:prstGeom prst="ellipse">
            <a:avLst/>
          </a:prstGeom>
          <a:gradFill rotWithShape="1">
            <a:gsLst>
              <a:gs pos="0">
                <a:srgbClr val="0033CC">
                  <a:alpha val="31765"/>
                </a:srgbClr>
              </a:gs>
              <a:gs pos="100000">
                <a:schemeClr val="folHlink">
                  <a:gamma/>
                  <a:shade val="0"/>
                  <a:invGamma/>
                  <a:alpha val="89999"/>
                </a:schemeClr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grpSp>
        <p:nvGrpSpPr>
          <p:cNvPr id="41" name="Group 15"/>
          <p:cNvGrpSpPr>
            <a:grpSpLocks/>
          </p:cNvGrpSpPr>
          <p:nvPr/>
        </p:nvGrpSpPr>
        <p:grpSpPr bwMode="auto">
          <a:xfrm>
            <a:off x="228600" y="1447800"/>
            <a:ext cx="1636712" cy="1636713"/>
            <a:chOff x="4166" y="1706"/>
            <a:chExt cx="1252" cy="1252"/>
          </a:xfrm>
        </p:grpSpPr>
        <p:sp>
          <p:nvSpPr>
            <p:cNvPr id="42" name="Oval 16"/>
            <p:cNvSpPr>
              <a:spLocks noChangeArrowheads="1"/>
            </p:cNvSpPr>
            <p:nvPr/>
          </p:nvSpPr>
          <p:spPr bwMode="gray">
            <a:xfrm>
              <a:off x="4166" y="1706"/>
              <a:ext cx="1252" cy="1252"/>
            </a:xfrm>
            <a:prstGeom prst="ellipse">
              <a:avLst/>
            </a:prstGeom>
            <a:gradFill rotWithShape="1">
              <a:gsLst>
                <a:gs pos="0">
                  <a:srgbClr val="636869"/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</p:spPr>
          <p:txBody>
            <a:bodyPr vert="eaVert" wrap="none" anchor="ctr"/>
            <a:lstStyle/>
            <a:p>
              <a:endParaRPr lang="ru-RU"/>
            </a:p>
          </p:txBody>
        </p:sp>
        <p:sp>
          <p:nvSpPr>
            <p:cNvPr id="43" name="Oval 17"/>
            <p:cNvSpPr>
              <a:spLocks noChangeArrowheads="1"/>
            </p:cNvSpPr>
            <p:nvPr/>
          </p:nvSpPr>
          <p:spPr bwMode="gray">
            <a:xfrm>
              <a:off x="4182" y="1713"/>
              <a:ext cx="1222" cy="122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F1F5F5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</p:spPr>
          <p:txBody>
            <a:bodyPr vert="eaVert" wrap="none" anchor="ctr"/>
            <a:lstStyle/>
            <a:p>
              <a:endParaRPr lang="ru-RU"/>
            </a:p>
          </p:txBody>
        </p:sp>
        <p:sp>
          <p:nvSpPr>
            <p:cNvPr id="44" name="Oval 18"/>
            <p:cNvSpPr>
              <a:spLocks noChangeArrowheads="1"/>
            </p:cNvSpPr>
            <p:nvPr/>
          </p:nvSpPr>
          <p:spPr bwMode="gray">
            <a:xfrm>
              <a:off x="4195" y="1725"/>
              <a:ext cx="1162" cy="1141"/>
            </a:xfrm>
            <a:prstGeom prst="ellipse">
              <a:avLst/>
            </a:prstGeom>
            <a:gradFill rotWithShape="1">
              <a:gsLst>
                <a:gs pos="0">
                  <a:srgbClr val="AAB2B3"/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</p:spPr>
          <p:txBody>
            <a:bodyPr vert="eaVert" wrap="none" anchor="ctr"/>
            <a:lstStyle/>
            <a:p>
              <a:endParaRPr lang="ru-RU"/>
            </a:p>
          </p:txBody>
        </p:sp>
      </p:grpSp>
      <p:grpSp>
        <p:nvGrpSpPr>
          <p:cNvPr id="46" name="Group 15"/>
          <p:cNvGrpSpPr>
            <a:grpSpLocks/>
          </p:cNvGrpSpPr>
          <p:nvPr/>
        </p:nvGrpSpPr>
        <p:grpSpPr bwMode="auto">
          <a:xfrm>
            <a:off x="7239000" y="1600200"/>
            <a:ext cx="1636712" cy="1636713"/>
            <a:chOff x="4166" y="1706"/>
            <a:chExt cx="1252" cy="1252"/>
          </a:xfrm>
        </p:grpSpPr>
        <p:sp>
          <p:nvSpPr>
            <p:cNvPr id="47" name="Oval 16"/>
            <p:cNvSpPr>
              <a:spLocks noChangeArrowheads="1"/>
            </p:cNvSpPr>
            <p:nvPr/>
          </p:nvSpPr>
          <p:spPr bwMode="gray">
            <a:xfrm>
              <a:off x="4166" y="1706"/>
              <a:ext cx="1252" cy="1252"/>
            </a:xfrm>
            <a:prstGeom prst="ellipse">
              <a:avLst/>
            </a:prstGeom>
            <a:gradFill rotWithShape="1">
              <a:gsLst>
                <a:gs pos="0">
                  <a:srgbClr val="636869"/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</p:spPr>
          <p:txBody>
            <a:bodyPr vert="eaVert" wrap="none" anchor="ctr"/>
            <a:lstStyle/>
            <a:p>
              <a:endParaRPr lang="ru-RU"/>
            </a:p>
          </p:txBody>
        </p:sp>
        <p:sp>
          <p:nvSpPr>
            <p:cNvPr id="48" name="Oval 17"/>
            <p:cNvSpPr>
              <a:spLocks noChangeArrowheads="1"/>
            </p:cNvSpPr>
            <p:nvPr/>
          </p:nvSpPr>
          <p:spPr bwMode="gray">
            <a:xfrm>
              <a:off x="4182" y="1713"/>
              <a:ext cx="1222" cy="122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F1F5F5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</p:spPr>
          <p:txBody>
            <a:bodyPr vert="eaVert" wrap="none" anchor="ctr"/>
            <a:lstStyle/>
            <a:p>
              <a:endParaRPr lang="ru-RU"/>
            </a:p>
          </p:txBody>
        </p:sp>
        <p:sp>
          <p:nvSpPr>
            <p:cNvPr id="50" name="Oval 18"/>
            <p:cNvSpPr>
              <a:spLocks noChangeArrowheads="1"/>
            </p:cNvSpPr>
            <p:nvPr/>
          </p:nvSpPr>
          <p:spPr bwMode="gray">
            <a:xfrm>
              <a:off x="4195" y="1725"/>
              <a:ext cx="1162" cy="1141"/>
            </a:xfrm>
            <a:prstGeom prst="ellipse">
              <a:avLst/>
            </a:prstGeom>
            <a:gradFill rotWithShape="1">
              <a:gsLst>
                <a:gs pos="0">
                  <a:srgbClr val="AAB2B3"/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</p:spPr>
          <p:txBody>
            <a:bodyPr vert="eaVert" wrap="none" anchor="ctr"/>
            <a:lstStyle/>
            <a:p>
              <a:endParaRPr lang="ru-RU"/>
            </a:p>
          </p:txBody>
        </p:sp>
      </p:grpSp>
      <p:sp>
        <p:nvSpPr>
          <p:cNvPr id="52" name="Oval 19"/>
          <p:cNvSpPr>
            <a:spLocks noChangeArrowheads="1"/>
          </p:cNvSpPr>
          <p:nvPr/>
        </p:nvSpPr>
        <p:spPr bwMode="gray">
          <a:xfrm>
            <a:off x="381000" y="1600200"/>
            <a:ext cx="1350418" cy="121054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D6E1E2">
                  <a:alpha val="37999"/>
                </a:srgbClr>
              </a:gs>
            </a:gsLst>
            <a:lin ang="5400000" scaled="1"/>
          </a:gradFill>
          <a:ln w="9525" algn="ctr">
            <a:noFill/>
            <a:round/>
            <a:headEnd/>
            <a:tailEnd/>
          </a:ln>
        </p:spPr>
        <p:txBody>
          <a:bodyPr vert="eaVert" wrap="none" anchor="ctr"/>
          <a:lstStyle/>
          <a:p>
            <a:endParaRPr lang="ru-RU"/>
          </a:p>
        </p:txBody>
      </p:sp>
      <p:sp>
        <p:nvSpPr>
          <p:cNvPr id="73" name="Text Box 38"/>
          <p:cNvSpPr txBox="1">
            <a:spLocks noChangeArrowheads="1"/>
          </p:cNvSpPr>
          <p:nvPr/>
        </p:nvSpPr>
        <p:spPr bwMode="gray">
          <a:xfrm>
            <a:off x="457200" y="1981200"/>
            <a:ext cx="1086709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ru-RU" sz="28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весна</a:t>
            </a:r>
            <a:endParaRPr lang="en-US" sz="2800" b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3" name="Picture 5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828800" y="4572000"/>
            <a:ext cx="5867401" cy="1726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4" name="Oval 19"/>
          <p:cNvSpPr>
            <a:spLocks noChangeArrowheads="1"/>
          </p:cNvSpPr>
          <p:nvPr/>
        </p:nvSpPr>
        <p:spPr bwMode="gray">
          <a:xfrm>
            <a:off x="2667000" y="1676400"/>
            <a:ext cx="1350418" cy="1210539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D6E1E2">
                  <a:alpha val="37999"/>
                </a:srgbClr>
              </a:gs>
            </a:gsLst>
            <a:lin ang="5400000" scaled="1"/>
          </a:gradFill>
          <a:ln w="9525" algn="ctr">
            <a:noFill/>
            <a:round/>
            <a:headEnd/>
            <a:tailEnd/>
          </a:ln>
        </p:spPr>
        <p:txBody>
          <a:bodyPr vert="eaVert" wrap="none" anchor="ctr"/>
          <a:lstStyle/>
          <a:p>
            <a:endParaRPr lang="ru-RU"/>
          </a:p>
        </p:txBody>
      </p:sp>
      <p:sp>
        <p:nvSpPr>
          <p:cNvPr id="74" name="Text Box 38"/>
          <p:cNvSpPr txBox="1">
            <a:spLocks noChangeArrowheads="1"/>
          </p:cNvSpPr>
          <p:nvPr/>
        </p:nvSpPr>
        <p:spPr bwMode="gray">
          <a:xfrm>
            <a:off x="2362200" y="2057400"/>
            <a:ext cx="1857375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ru-RU" sz="28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зима</a:t>
            </a:r>
            <a:endParaRPr lang="en-US" sz="2800" b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5" name="Picture 2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1828800" y="4572000"/>
            <a:ext cx="5867400" cy="1765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6" name="Oval 19"/>
          <p:cNvSpPr>
            <a:spLocks noChangeArrowheads="1"/>
          </p:cNvSpPr>
          <p:nvPr/>
        </p:nvSpPr>
        <p:spPr bwMode="gray">
          <a:xfrm>
            <a:off x="5029200" y="1752600"/>
            <a:ext cx="1350418" cy="121054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D6E1E2">
                  <a:alpha val="37999"/>
                </a:srgbClr>
              </a:gs>
            </a:gsLst>
            <a:lin ang="5400000" scaled="1"/>
          </a:gradFill>
          <a:ln w="9525" algn="ctr">
            <a:noFill/>
            <a:round/>
            <a:headEnd/>
            <a:tailEnd/>
          </a:ln>
        </p:spPr>
        <p:txBody>
          <a:bodyPr vert="eaVert" wrap="none" anchor="ctr"/>
          <a:lstStyle/>
          <a:p>
            <a:endParaRPr lang="ru-RU"/>
          </a:p>
        </p:txBody>
      </p:sp>
      <p:sp>
        <p:nvSpPr>
          <p:cNvPr id="75" name="Text Box 38"/>
          <p:cNvSpPr txBox="1">
            <a:spLocks noChangeArrowheads="1"/>
          </p:cNvSpPr>
          <p:nvPr/>
        </p:nvSpPr>
        <p:spPr bwMode="gray">
          <a:xfrm>
            <a:off x="5257800" y="2057400"/>
            <a:ext cx="896464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ru-RU" sz="28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лето</a:t>
            </a:r>
            <a:endParaRPr lang="en-US" sz="2800" b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Oval 19"/>
          <p:cNvSpPr>
            <a:spLocks noChangeArrowheads="1"/>
          </p:cNvSpPr>
          <p:nvPr/>
        </p:nvSpPr>
        <p:spPr bwMode="gray">
          <a:xfrm>
            <a:off x="7391400" y="1752600"/>
            <a:ext cx="1350418" cy="1286362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D6E1E2">
                  <a:alpha val="37999"/>
                </a:srgbClr>
              </a:gs>
            </a:gsLst>
            <a:lin ang="5400000" scaled="1"/>
          </a:gradFill>
          <a:ln w="9525" algn="ctr">
            <a:noFill/>
            <a:round/>
            <a:headEnd/>
            <a:tailEnd/>
          </a:ln>
        </p:spPr>
        <p:txBody>
          <a:bodyPr vert="eaVert" wrap="none" anchor="ctr"/>
          <a:lstStyle/>
          <a:p>
            <a:endParaRPr lang="ru-RU"/>
          </a:p>
        </p:txBody>
      </p:sp>
      <p:pic>
        <p:nvPicPr>
          <p:cNvPr id="54" name="Picture 6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1828800" y="4572000"/>
            <a:ext cx="5867400" cy="1709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6" name="Text Box 38"/>
          <p:cNvSpPr txBox="1">
            <a:spLocks noChangeArrowheads="1"/>
          </p:cNvSpPr>
          <p:nvPr/>
        </p:nvSpPr>
        <p:spPr bwMode="gray">
          <a:xfrm>
            <a:off x="7543800" y="2133600"/>
            <a:ext cx="1082348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ru-RU" sz="28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осень</a:t>
            </a:r>
            <a:endParaRPr lang="en-US" sz="2800" b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6" name="Picture 3"/>
          <p:cNvPicPr>
            <a:picLocks noChangeAspect="1" noChangeArrowheads="1"/>
          </p:cNvPicPr>
          <p:nvPr/>
        </p:nvPicPr>
        <p:blipFill>
          <a:blip r:embed="rId5" cstate="email"/>
          <a:srcRect/>
          <a:stretch>
            <a:fillRect/>
          </a:stretch>
        </p:blipFill>
        <p:spPr bwMode="auto">
          <a:xfrm>
            <a:off x="1828800" y="4572000"/>
            <a:ext cx="5867400" cy="1693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55" grpId="0" animBg="1"/>
      <p:bldP spid="40" grpId="0" animBg="1"/>
      <p:bldP spid="38" grpId="0" animBg="1"/>
      <p:bldP spid="52" grpId="0" animBg="1"/>
      <p:bldP spid="73" grpId="0"/>
      <p:bldP spid="34" grpId="0" animBg="1"/>
      <p:bldP spid="74" grpId="0"/>
      <p:bldP spid="36" grpId="0" animBg="1"/>
      <p:bldP spid="75" grpId="0"/>
      <p:bldP spid="53" grpId="0" animBg="1"/>
      <p:bldP spid="7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с двумя скругленными противолежащими углами 5"/>
          <p:cNvSpPr/>
          <p:nvPr/>
        </p:nvSpPr>
        <p:spPr>
          <a:xfrm>
            <a:off x="228600" y="4495800"/>
            <a:ext cx="2057400" cy="2209800"/>
          </a:xfrm>
          <a:prstGeom prst="round2DiagRect">
            <a:avLst/>
          </a:prstGeom>
          <a:solidFill>
            <a:schemeClr val="bg1"/>
          </a:solidFill>
          <a:ln w="38100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четверг</a:t>
            </a:r>
            <a:endParaRPr lang="ru-RU" sz="3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с двумя скругленными противолежащими углами 6"/>
          <p:cNvSpPr/>
          <p:nvPr/>
        </p:nvSpPr>
        <p:spPr>
          <a:xfrm>
            <a:off x="2438400" y="4495800"/>
            <a:ext cx="2057400" cy="2209800"/>
          </a:xfrm>
          <a:prstGeom prst="round2DiagRect">
            <a:avLst/>
          </a:prstGeom>
          <a:solidFill>
            <a:schemeClr val="bg1"/>
          </a:solidFill>
          <a:ln w="38100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пятница</a:t>
            </a:r>
            <a:endParaRPr lang="ru-RU" sz="3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763000" cy="1858962"/>
          </a:xfrm>
          <a:solidFill>
            <a:schemeClr val="bg1"/>
          </a:solidFill>
          <a:ln w="38100">
            <a:solidFill>
              <a:srgbClr val="0033CC"/>
            </a:solidFill>
          </a:ln>
        </p:spPr>
        <p:txBody>
          <a:bodyPr>
            <a:noAutofit/>
          </a:bodyPr>
          <a:lstStyle/>
          <a:p>
            <a:pPr algn="l">
              <a:defRPr/>
            </a:pPr>
            <a:r>
              <a:rPr lang="ru-RU" sz="32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Из отрывного календаря выпали листки с названием дней недели. Расположите по алфавиту.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с двумя скругленными противолежащими углами 3"/>
          <p:cNvSpPr/>
          <p:nvPr/>
        </p:nvSpPr>
        <p:spPr>
          <a:xfrm>
            <a:off x="4724400" y="4419600"/>
            <a:ext cx="2057400" cy="2209800"/>
          </a:xfrm>
          <a:prstGeom prst="round2DiagRect">
            <a:avLst/>
          </a:prstGeom>
          <a:solidFill>
            <a:schemeClr val="bg1"/>
          </a:solidFill>
          <a:ln w="38100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среда</a:t>
            </a:r>
            <a:endParaRPr lang="ru-RU" sz="3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с двумя скругленными противолежащими углами 7"/>
          <p:cNvSpPr/>
          <p:nvPr/>
        </p:nvSpPr>
        <p:spPr>
          <a:xfrm>
            <a:off x="6934200" y="4419600"/>
            <a:ext cx="2057400" cy="2209800"/>
          </a:xfrm>
          <a:prstGeom prst="round2DiagRect">
            <a:avLst/>
          </a:prstGeom>
          <a:solidFill>
            <a:schemeClr val="bg1"/>
          </a:solidFill>
          <a:ln w="38100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суббота</a:t>
            </a:r>
            <a:endParaRPr lang="ru-RU" sz="3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 descr="E:\Рисунок5.png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6777038" y="1295400"/>
            <a:ext cx="2366962" cy="243998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33333E-6 L -0.22917 -0.3277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500" y="-16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-0.2375 -0.25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90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33333E-6 L -0.2375 -0.13889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900" y="-6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917 -0.00555 L 0.73334 -0.01111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200" y="-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4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7"/>
          <p:cNvSpPr txBox="1">
            <a:spLocks noChangeArrowheads="1"/>
          </p:cNvSpPr>
          <p:nvPr/>
        </p:nvSpPr>
        <p:spPr bwMode="gray">
          <a:xfrm>
            <a:off x="228600" y="228600"/>
            <a:ext cx="8694515" cy="523220"/>
          </a:xfrm>
          <a:prstGeom prst="rect">
            <a:avLst/>
          </a:prstGeom>
          <a:solidFill>
            <a:schemeClr val="bg1"/>
          </a:solidFill>
          <a:ln w="38100">
            <a:solidFill>
              <a:srgbClr val="4126A6"/>
            </a:solidFill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ru-RU" sz="28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Напиши фамилии писателей в алфавитном порядке. 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3657600" y="914400"/>
            <a:ext cx="1812036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914400" y="990600"/>
            <a:ext cx="1652628" cy="2209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6705600" y="914400"/>
            <a:ext cx="172364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5" cstate="email"/>
          <a:srcRect/>
          <a:stretch>
            <a:fillRect/>
          </a:stretch>
        </p:blipFill>
        <p:spPr bwMode="auto">
          <a:xfrm>
            <a:off x="1828800" y="3886200"/>
            <a:ext cx="1828800" cy="22302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62" name="Picture 14"/>
          <p:cNvPicPr>
            <a:picLocks noChangeAspect="1" noChangeArrowheads="1"/>
          </p:cNvPicPr>
          <p:nvPr/>
        </p:nvPicPr>
        <p:blipFill>
          <a:blip r:embed="rId6" cstate="email"/>
          <a:srcRect/>
          <a:stretch>
            <a:fillRect/>
          </a:stretch>
        </p:blipFill>
        <p:spPr bwMode="auto">
          <a:xfrm>
            <a:off x="5181600" y="3810000"/>
            <a:ext cx="1616837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" name="TextBox 50"/>
          <p:cNvSpPr txBox="1"/>
          <p:nvPr/>
        </p:nvSpPr>
        <p:spPr>
          <a:xfrm>
            <a:off x="838200" y="3200400"/>
            <a:ext cx="21772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Толстой Л.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505200" y="3200400"/>
            <a:ext cx="2353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  Крылов И.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781800" y="3200400"/>
            <a:ext cx="20457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Чехов А.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752600" y="6096000"/>
            <a:ext cx="22445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Пушкин А.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410200" y="6019800"/>
            <a:ext cx="1968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Житков Б.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Прямоугольник 60"/>
          <p:cNvSpPr/>
          <p:nvPr/>
        </p:nvSpPr>
        <p:spPr>
          <a:xfrm>
            <a:off x="3048000" y="3124200"/>
            <a:ext cx="7620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ru-RU" sz="3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Прямоугольник 61"/>
          <p:cNvSpPr/>
          <p:nvPr/>
        </p:nvSpPr>
        <p:spPr>
          <a:xfrm>
            <a:off x="6096000" y="3124200"/>
            <a:ext cx="7620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ru-RU" sz="3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Прямоугольник 62"/>
          <p:cNvSpPr/>
          <p:nvPr/>
        </p:nvSpPr>
        <p:spPr>
          <a:xfrm>
            <a:off x="1066800" y="6096000"/>
            <a:ext cx="7620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ru-RU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Прямоугольник 63"/>
          <p:cNvSpPr/>
          <p:nvPr/>
        </p:nvSpPr>
        <p:spPr>
          <a:xfrm>
            <a:off x="4495800" y="6019800"/>
            <a:ext cx="7620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ru-RU" sz="3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Прямоугольник 64"/>
          <p:cNvSpPr/>
          <p:nvPr/>
        </p:nvSpPr>
        <p:spPr>
          <a:xfrm>
            <a:off x="152400" y="3200400"/>
            <a:ext cx="7620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ru-RU" sz="3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  <p:bldP spid="63" grpId="0" animBg="1"/>
      <p:bldP spid="64" grpId="0" animBg="1"/>
      <p:bldP spid="6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28600" y="228600"/>
            <a:ext cx="87599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5400" b="1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Запись слов по алфавиту</a:t>
            </a:r>
            <a:endParaRPr lang="ru-RU" sz="5400" b="1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304800" y="1143000"/>
            <a:ext cx="2286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2895600" y="1219200"/>
            <a:ext cx="21336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 cstate="email"/>
          <a:srcRect/>
          <a:stretch>
            <a:fillRect/>
          </a:stretch>
        </p:blipFill>
        <p:spPr bwMode="auto">
          <a:xfrm>
            <a:off x="5410201" y="1219201"/>
            <a:ext cx="1524000" cy="20908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 cstate="email"/>
          <a:srcRect/>
          <a:stretch>
            <a:fillRect/>
          </a:stretch>
        </p:blipFill>
        <p:spPr bwMode="auto">
          <a:xfrm>
            <a:off x="381000" y="3810000"/>
            <a:ext cx="2057400" cy="1787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7" cstate="email"/>
          <a:srcRect/>
          <a:stretch>
            <a:fillRect/>
          </a:stretch>
        </p:blipFill>
        <p:spPr bwMode="auto">
          <a:xfrm>
            <a:off x="2819400" y="3581400"/>
            <a:ext cx="20574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8" cstate="email"/>
          <a:srcRect/>
          <a:stretch>
            <a:fillRect/>
          </a:stretch>
        </p:blipFill>
        <p:spPr bwMode="auto">
          <a:xfrm>
            <a:off x="7162800" y="1219200"/>
            <a:ext cx="1610219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9" cstate="email"/>
          <a:srcRect/>
          <a:stretch>
            <a:fillRect/>
          </a:stretch>
        </p:blipFill>
        <p:spPr bwMode="auto">
          <a:xfrm>
            <a:off x="7391400" y="3505200"/>
            <a:ext cx="1295400" cy="2042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10" cstate="email"/>
          <a:srcRect/>
          <a:stretch>
            <a:fillRect/>
          </a:stretch>
        </p:blipFill>
        <p:spPr bwMode="auto">
          <a:xfrm>
            <a:off x="5257800" y="3810000"/>
            <a:ext cx="2048601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lfavit_1_klas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alfavit_1_klass</Template>
  <TotalTime>0</TotalTime>
  <Words>314</Words>
  <Application>Microsoft Office PowerPoint</Application>
  <PresentationFormat>Экран (4:3)</PresentationFormat>
  <Paragraphs>72</Paragraphs>
  <Slides>11</Slides>
  <Notes>7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alfavit_1_klass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Из отрывного календаря выпали листки с названием дней недели. Расположите по алфавиту.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Admin</cp:lastModifiedBy>
  <cp:revision>1</cp:revision>
  <dcterms:created xsi:type="dcterms:W3CDTF">2017-04-12T14:05:39Z</dcterms:created>
  <dcterms:modified xsi:type="dcterms:W3CDTF">2017-04-12T14:05:43Z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591832</vt:lpwstr>
  </property>
  <property fmtid="{D5CDD505-2E9C-101B-9397-08002B2CF9AE}" name="NXPowerLiteSettings" pid="3">
    <vt:lpwstr>F6000400038000</vt:lpwstr>
  </property>
  <property fmtid="{D5CDD505-2E9C-101B-9397-08002B2CF9AE}" name="NXPowerLiteVersion" pid="4">
    <vt:lpwstr>D4.3.1</vt:lpwstr>
  </property>
</Properties>
</file>